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1"/>
  </p:sldMasterIdLst>
  <p:notesMasterIdLst>
    <p:notesMasterId r:id="rId33"/>
  </p:notesMasterIdLst>
  <p:sldIdLst>
    <p:sldId id="256" r:id="rId2"/>
    <p:sldId id="257" r:id="rId3"/>
    <p:sldId id="258" r:id="rId4"/>
    <p:sldId id="262" r:id="rId5"/>
    <p:sldId id="260" r:id="rId6"/>
    <p:sldId id="259" r:id="rId7"/>
    <p:sldId id="261" r:id="rId8"/>
    <p:sldId id="310" r:id="rId9"/>
    <p:sldId id="296" r:id="rId10"/>
    <p:sldId id="297" r:id="rId11"/>
    <p:sldId id="311" r:id="rId12"/>
    <p:sldId id="327" r:id="rId13"/>
    <p:sldId id="304" r:id="rId14"/>
    <p:sldId id="306" r:id="rId15"/>
    <p:sldId id="303" r:id="rId16"/>
    <p:sldId id="315" r:id="rId17"/>
    <p:sldId id="263" r:id="rId18"/>
    <p:sldId id="312" r:id="rId19"/>
    <p:sldId id="313" r:id="rId20"/>
    <p:sldId id="314" r:id="rId21"/>
    <p:sldId id="316" r:id="rId22"/>
    <p:sldId id="317" r:id="rId23"/>
    <p:sldId id="318" r:id="rId24"/>
    <p:sldId id="319" r:id="rId25"/>
    <p:sldId id="320" r:id="rId26"/>
    <p:sldId id="321" r:id="rId27"/>
    <p:sldId id="322" r:id="rId28"/>
    <p:sldId id="323" r:id="rId29"/>
    <p:sldId id="324" r:id="rId30"/>
    <p:sldId id="325" r:id="rId31"/>
    <p:sldId id="32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Stile chi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Stile con tema 1 - Color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269D01E-BC32-4049-B463-5C60D7B0CCD2}" styleName="Stile con tema 2 - Colore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F1AB2-1976-4502-BF36-3FF5EA218861}" styleName="Stile medio 4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196" autoAdjust="0"/>
  </p:normalViewPr>
  <p:slideViewPr>
    <p:cSldViewPr snapToGrid="0">
      <p:cViewPr varScale="1">
        <p:scale>
          <a:sx n="81" d="100"/>
          <a:sy n="81" d="100"/>
        </p:scale>
        <p:origin x="754" y="62"/>
      </p:cViewPr>
      <p:guideLst/>
    </p:cSldViewPr>
  </p:slideViewPr>
  <p:outlineViewPr>
    <p:cViewPr>
      <p:scale>
        <a:sx n="33" d="100"/>
        <a:sy n="33" d="100"/>
      </p:scale>
      <p:origin x="0" y="-10646"/>
    </p:cViewPr>
  </p:outlineViewPr>
  <p:notesTextViewPr>
    <p:cViewPr>
      <p:scale>
        <a:sx n="1" d="1"/>
        <a:sy n="1" d="1"/>
      </p:scale>
      <p:origin x="0" y="0"/>
    </p:cViewPr>
  </p:notesTextViewPr>
  <p:sorterViewPr>
    <p:cViewPr>
      <p:scale>
        <a:sx n="100" d="100"/>
        <a:sy n="100" d="100"/>
      </p:scale>
      <p:origin x="0" y="-1582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6D2D68-BD95-4728-8128-4AA06C42E24E}"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it-IT"/>
        </a:p>
      </dgm:t>
    </dgm:pt>
    <dgm:pt modelId="{932384D6-4FCC-4440-A8A8-20CCD893089B}">
      <dgm:prSet phldrT="[Testo]"/>
      <dgm:spPr/>
      <dgm:t>
        <a:bodyPr/>
        <a:lstStyle/>
        <a:p>
          <a:r>
            <a:rPr lang="it-IT" dirty="0"/>
            <a:t>Machine Learning</a:t>
          </a:r>
        </a:p>
      </dgm:t>
    </dgm:pt>
    <dgm:pt modelId="{03783A13-06F7-45AE-A128-2C4AC9693FBC}" type="parTrans" cxnId="{E6C08A21-FA56-46E3-8CB2-157294BE3D4E}">
      <dgm:prSet/>
      <dgm:spPr/>
      <dgm:t>
        <a:bodyPr/>
        <a:lstStyle/>
        <a:p>
          <a:endParaRPr lang="it-IT"/>
        </a:p>
      </dgm:t>
    </dgm:pt>
    <dgm:pt modelId="{5A3CC35D-B8EE-41BA-977E-54234667664E}" type="sibTrans" cxnId="{E6C08A21-FA56-46E3-8CB2-157294BE3D4E}">
      <dgm:prSet/>
      <dgm:spPr/>
      <dgm:t>
        <a:bodyPr/>
        <a:lstStyle/>
        <a:p>
          <a:endParaRPr lang="it-IT"/>
        </a:p>
      </dgm:t>
    </dgm:pt>
    <dgm:pt modelId="{55AA90DD-D1A1-4D48-AA54-27221D2E5E18}">
      <dgm:prSet phldrT="[Testo]"/>
      <dgm:spPr/>
      <dgm:t>
        <a:bodyPr/>
        <a:lstStyle/>
        <a:p>
          <a:r>
            <a:rPr lang="it-IT" dirty="0"/>
            <a:t>Supervisionato</a:t>
          </a:r>
        </a:p>
      </dgm:t>
    </dgm:pt>
    <dgm:pt modelId="{7C8B7155-99A6-4E04-AC2C-CEF9EF43A67A}" type="parTrans" cxnId="{797D941A-61BA-4FF8-BF6C-0F36C23C957C}">
      <dgm:prSet/>
      <dgm:spPr/>
      <dgm:t>
        <a:bodyPr/>
        <a:lstStyle/>
        <a:p>
          <a:endParaRPr lang="it-IT"/>
        </a:p>
      </dgm:t>
    </dgm:pt>
    <dgm:pt modelId="{AE570FF1-2CB3-44FB-8010-96A0B007D708}" type="sibTrans" cxnId="{797D941A-61BA-4FF8-BF6C-0F36C23C957C}">
      <dgm:prSet/>
      <dgm:spPr/>
      <dgm:t>
        <a:bodyPr/>
        <a:lstStyle/>
        <a:p>
          <a:endParaRPr lang="it-IT"/>
        </a:p>
      </dgm:t>
    </dgm:pt>
    <dgm:pt modelId="{83DA582E-AFA6-4CDF-BD1E-E5ABF6FFC6C1}">
      <dgm:prSet phldrT="[Testo]"/>
      <dgm:spPr/>
      <dgm:t>
        <a:bodyPr/>
        <a:lstStyle/>
        <a:p>
          <a:r>
            <a:rPr lang="it-IT" dirty="0"/>
            <a:t>Classificazione</a:t>
          </a:r>
        </a:p>
      </dgm:t>
    </dgm:pt>
    <dgm:pt modelId="{B054736D-C239-4157-B0AB-0B13CD19D637}" type="parTrans" cxnId="{0A799445-1C2B-436F-9DE5-ADCEB67C72FC}">
      <dgm:prSet/>
      <dgm:spPr/>
      <dgm:t>
        <a:bodyPr/>
        <a:lstStyle/>
        <a:p>
          <a:endParaRPr lang="it-IT"/>
        </a:p>
      </dgm:t>
    </dgm:pt>
    <dgm:pt modelId="{75512FAD-84D4-40DC-8C24-E23D535A8776}" type="sibTrans" cxnId="{0A799445-1C2B-436F-9DE5-ADCEB67C72FC}">
      <dgm:prSet/>
      <dgm:spPr/>
      <dgm:t>
        <a:bodyPr/>
        <a:lstStyle/>
        <a:p>
          <a:endParaRPr lang="it-IT"/>
        </a:p>
      </dgm:t>
    </dgm:pt>
    <dgm:pt modelId="{5E0E8E9C-2A66-4961-BE22-28A1FA67603C}">
      <dgm:prSet phldrT="[Testo]"/>
      <dgm:spPr/>
      <dgm:t>
        <a:bodyPr/>
        <a:lstStyle/>
        <a:p>
          <a:r>
            <a:rPr lang="it-IT" dirty="0"/>
            <a:t>Regressione</a:t>
          </a:r>
        </a:p>
      </dgm:t>
    </dgm:pt>
    <dgm:pt modelId="{A60AC195-F6BE-4B52-8378-EFAD332AE7F9}" type="parTrans" cxnId="{C23257F6-0A0C-4AB2-881F-6235E63DA6BE}">
      <dgm:prSet/>
      <dgm:spPr/>
      <dgm:t>
        <a:bodyPr/>
        <a:lstStyle/>
        <a:p>
          <a:endParaRPr lang="it-IT"/>
        </a:p>
      </dgm:t>
    </dgm:pt>
    <dgm:pt modelId="{BAC36468-01F8-41CC-97DD-B4110B23DBB3}" type="sibTrans" cxnId="{C23257F6-0A0C-4AB2-881F-6235E63DA6BE}">
      <dgm:prSet/>
      <dgm:spPr/>
      <dgm:t>
        <a:bodyPr/>
        <a:lstStyle/>
        <a:p>
          <a:endParaRPr lang="it-IT"/>
        </a:p>
      </dgm:t>
    </dgm:pt>
    <dgm:pt modelId="{30DCAD71-0217-4F0B-8BF8-F4984EBAA025}">
      <dgm:prSet phldrT="[Testo]"/>
      <dgm:spPr/>
      <dgm:t>
        <a:bodyPr/>
        <a:lstStyle/>
        <a:p>
          <a:r>
            <a:rPr lang="it-IT" dirty="0"/>
            <a:t>Non supervisionato</a:t>
          </a:r>
        </a:p>
      </dgm:t>
    </dgm:pt>
    <dgm:pt modelId="{328B4516-3584-45E8-AA98-DFB68B020119}" type="parTrans" cxnId="{4E968158-8882-4877-9F18-0829A226CF71}">
      <dgm:prSet/>
      <dgm:spPr/>
      <dgm:t>
        <a:bodyPr/>
        <a:lstStyle/>
        <a:p>
          <a:endParaRPr lang="it-IT"/>
        </a:p>
      </dgm:t>
    </dgm:pt>
    <dgm:pt modelId="{46DC2BF0-7A71-40CF-8D20-0153BA009C0E}" type="sibTrans" cxnId="{4E968158-8882-4877-9F18-0829A226CF71}">
      <dgm:prSet/>
      <dgm:spPr/>
      <dgm:t>
        <a:bodyPr/>
        <a:lstStyle/>
        <a:p>
          <a:endParaRPr lang="it-IT"/>
        </a:p>
      </dgm:t>
    </dgm:pt>
    <dgm:pt modelId="{0FFEACEB-0D6B-4962-A027-CF11D2466996}">
      <dgm:prSet phldrT="[Testo]"/>
      <dgm:spPr/>
      <dgm:t>
        <a:bodyPr/>
        <a:lstStyle/>
        <a:p>
          <a:r>
            <a:rPr lang="it-IT" dirty="0"/>
            <a:t>Clustering</a:t>
          </a:r>
        </a:p>
      </dgm:t>
    </dgm:pt>
    <dgm:pt modelId="{EE88D21F-DF3D-4D77-B00A-C0AB0C0909C6}" type="parTrans" cxnId="{55FBEA8F-5BEE-4976-B94B-81FDAC428ECF}">
      <dgm:prSet/>
      <dgm:spPr/>
      <dgm:t>
        <a:bodyPr/>
        <a:lstStyle/>
        <a:p>
          <a:endParaRPr lang="it-IT"/>
        </a:p>
      </dgm:t>
    </dgm:pt>
    <dgm:pt modelId="{17BA1812-75D7-4C64-8290-6F68B18F7524}" type="sibTrans" cxnId="{55FBEA8F-5BEE-4976-B94B-81FDAC428ECF}">
      <dgm:prSet/>
      <dgm:spPr/>
      <dgm:t>
        <a:bodyPr/>
        <a:lstStyle/>
        <a:p>
          <a:endParaRPr lang="it-IT"/>
        </a:p>
      </dgm:t>
    </dgm:pt>
    <dgm:pt modelId="{CAB43A89-80EA-43DF-AC8D-6C121F71894F}">
      <dgm:prSet phldrT="[Testo]"/>
      <dgm:spPr/>
      <dgm:t>
        <a:bodyPr/>
        <a:lstStyle/>
        <a:p>
          <a:r>
            <a:rPr lang="it-IT" dirty="0"/>
            <a:t>Riduzione della dimensionalità</a:t>
          </a:r>
        </a:p>
      </dgm:t>
    </dgm:pt>
    <dgm:pt modelId="{A050182E-758C-483F-9AAD-7F82F58F9C25}" type="parTrans" cxnId="{CE2C6CCD-249E-401D-BBE1-15F79BAA5C7D}">
      <dgm:prSet/>
      <dgm:spPr/>
      <dgm:t>
        <a:bodyPr/>
        <a:lstStyle/>
        <a:p>
          <a:endParaRPr lang="it-IT"/>
        </a:p>
      </dgm:t>
    </dgm:pt>
    <dgm:pt modelId="{A96F0D0C-0CA8-40D8-8D79-E6EFEFCA59B5}" type="sibTrans" cxnId="{CE2C6CCD-249E-401D-BBE1-15F79BAA5C7D}">
      <dgm:prSet/>
      <dgm:spPr/>
      <dgm:t>
        <a:bodyPr/>
        <a:lstStyle/>
        <a:p>
          <a:endParaRPr lang="it-IT"/>
        </a:p>
      </dgm:t>
    </dgm:pt>
    <dgm:pt modelId="{F45E7B3D-0207-4E15-8D3B-5A992BA58C81}" type="pres">
      <dgm:prSet presAssocID="{AD6D2D68-BD95-4728-8128-4AA06C42E24E}" presName="diagram" presStyleCnt="0">
        <dgm:presLayoutVars>
          <dgm:chPref val="1"/>
          <dgm:dir/>
          <dgm:animOne val="branch"/>
          <dgm:animLvl val="lvl"/>
          <dgm:resizeHandles val="exact"/>
        </dgm:presLayoutVars>
      </dgm:prSet>
      <dgm:spPr/>
    </dgm:pt>
    <dgm:pt modelId="{BCB5B1D0-AEC3-4964-9FAD-4AA00E724ABA}" type="pres">
      <dgm:prSet presAssocID="{932384D6-4FCC-4440-A8A8-20CCD893089B}" presName="root1" presStyleCnt="0"/>
      <dgm:spPr/>
    </dgm:pt>
    <dgm:pt modelId="{34C40545-A237-4238-AC43-F9C38FB43E95}" type="pres">
      <dgm:prSet presAssocID="{932384D6-4FCC-4440-A8A8-20CCD893089B}" presName="LevelOneTextNode" presStyleLbl="node0" presStyleIdx="0" presStyleCnt="1">
        <dgm:presLayoutVars>
          <dgm:chPref val="3"/>
        </dgm:presLayoutVars>
      </dgm:prSet>
      <dgm:spPr/>
    </dgm:pt>
    <dgm:pt modelId="{A2A29F52-600E-4DCA-9245-29B217AFD704}" type="pres">
      <dgm:prSet presAssocID="{932384D6-4FCC-4440-A8A8-20CCD893089B}" presName="level2hierChild" presStyleCnt="0"/>
      <dgm:spPr/>
    </dgm:pt>
    <dgm:pt modelId="{D0236411-EE05-4236-B819-60EC76A33BF2}" type="pres">
      <dgm:prSet presAssocID="{7C8B7155-99A6-4E04-AC2C-CEF9EF43A67A}" presName="conn2-1" presStyleLbl="parChTrans1D2" presStyleIdx="0" presStyleCnt="2"/>
      <dgm:spPr/>
    </dgm:pt>
    <dgm:pt modelId="{E703E881-9B20-4FA0-84CC-723876278A73}" type="pres">
      <dgm:prSet presAssocID="{7C8B7155-99A6-4E04-AC2C-CEF9EF43A67A}" presName="connTx" presStyleLbl="parChTrans1D2" presStyleIdx="0" presStyleCnt="2"/>
      <dgm:spPr/>
    </dgm:pt>
    <dgm:pt modelId="{4FC5FAE9-9E4C-47AF-BFDA-A2E350A742AE}" type="pres">
      <dgm:prSet presAssocID="{55AA90DD-D1A1-4D48-AA54-27221D2E5E18}" presName="root2" presStyleCnt="0"/>
      <dgm:spPr/>
    </dgm:pt>
    <dgm:pt modelId="{A1096775-D8CD-4F45-BF42-D046D6E17C88}" type="pres">
      <dgm:prSet presAssocID="{55AA90DD-D1A1-4D48-AA54-27221D2E5E18}" presName="LevelTwoTextNode" presStyleLbl="node2" presStyleIdx="0" presStyleCnt="2">
        <dgm:presLayoutVars>
          <dgm:chPref val="3"/>
        </dgm:presLayoutVars>
      </dgm:prSet>
      <dgm:spPr/>
    </dgm:pt>
    <dgm:pt modelId="{76608983-2240-4A46-A925-20F412FB88D8}" type="pres">
      <dgm:prSet presAssocID="{55AA90DD-D1A1-4D48-AA54-27221D2E5E18}" presName="level3hierChild" presStyleCnt="0"/>
      <dgm:spPr/>
    </dgm:pt>
    <dgm:pt modelId="{28A46FB7-D3F3-4B2B-AB1F-9726430F9094}" type="pres">
      <dgm:prSet presAssocID="{B054736D-C239-4157-B0AB-0B13CD19D637}" presName="conn2-1" presStyleLbl="parChTrans1D3" presStyleIdx="0" presStyleCnt="4"/>
      <dgm:spPr/>
    </dgm:pt>
    <dgm:pt modelId="{2A1C7025-33DD-4FAF-B70B-B56FD3A3E1D7}" type="pres">
      <dgm:prSet presAssocID="{B054736D-C239-4157-B0AB-0B13CD19D637}" presName="connTx" presStyleLbl="parChTrans1D3" presStyleIdx="0" presStyleCnt="4"/>
      <dgm:spPr/>
    </dgm:pt>
    <dgm:pt modelId="{14BF3D74-7E10-4027-AAD2-F98D8B90942C}" type="pres">
      <dgm:prSet presAssocID="{83DA582E-AFA6-4CDF-BD1E-E5ABF6FFC6C1}" presName="root2" presStyleCnt="0"/>
      <dgm:spPr/>
    </dgm:pt>
    <dgm:pt modelId="{624EC35D-8C8B-403B-9CF8-A3C4AD48425A}" type="pres">
      <dgm:prSet presAssocID="{83DA582E-AFA6-4CDF-BD1E-E5ABF6FFC6C1}" presName="LevelTwoTextNode" presStyleLbl="node3" presStyleIdx="0" presStyleCnt="4" custLinFactNeighborX="4450" custLinFactNeighborY="-66908">
        <dgm:presLayoutVars>
          <dgm:chPref val="3"/>
        </dgm:presLayoutVars>
      </dgm:prSet>
      <dgm:spPr/>
    </dgm:pt>
    <dgm:pt modelId="{FD4404C6-2412-44B2-A8EF-B3A5E7D7B155}" type="pres">
      <dgm:prSet presAssocID="{83DA582E-AFA6-4CDF-BD1E-E5ABF6FFC6C1}" presName="level3hierChild" presStyleCnt="0"/>
      <dgm:spPr/>
    </dgm:pt>
    <dgm:pt modelId="{84D623FF-9E6D-41E9-9B9C-2FBECFA08403}" type="pres">
      <dgm:prSet presAssocID="{A60AC195-F6BE-4B52-8378-EFAD332AE7F9}" presName="conn2-1" presStyleLbl="parChTrans1D3" presStyleIdx="1" presStyleCnt="4"/>
      <dgm:spPr/>
    </dgm:pt>
    <dgm:pt modelId="{11C97C4A-B993-424B-8E6A-5E76D7C2FF64}" type="pres">
      <dgm:prSet presAssocID="{A60AC195-F6BE-4B52-8378-EFAD332AE7F9}" presName="connTx" presStyleLbl="parChTrans1D3" presStyleIdx="1" presStyleCnt="4"/>
      <dgm:spPr/>
    </dgm:pt>
    <dgm:pt modelId="{92C32EDD-72E6-40D3-9B34-BB0B61B708E1}" type="pres">
      <dgm:prSet presAssocID="{5E0E8E9C-2A66-4961-BE22-28A1FA67603C}" presName="root2" presStyleCnt="0"/>
      <dgm:spPr/>
    </dgm:pt>
    <dgm:pt modelId="{1BA9FD0E-7F13-4448-B556-9E1E768139C4}" type="pres">
      <dgm:prSet presAssocID="{5E0E8E9C-2A66-4961-BE22-28A1FA67603C}" presName="LevelTwoTextNode" presStyleLbl="node3" presStyleIdx="1" presStyleCnt="4" custLinFactNeighborX="4450">
        <dgm:presLayoutVars>
          <dgm:chPref val="3"/>
        </dgm:presLayoutVars>
      </dgm:prSet>
      <dgm:spPr/>
    </dgm:pt>
    <dgm:pt modelId="{885F3955-0B23-4E5B-B408-364F4886B525}" type="pres">
      <dgm:prSet presAssocID="{5E0E8E9C-2A66-4961-BE22-28A1FA67603C}" presName="level3hierChild" presStyleCnt="0"/>
      <dgm:spPr/>
    </dgm:pt>
    <dgm:pt modelId="{4E157C42-16CB-4B53-8D8D-D2250627AC80}" type="pres">
      <dgm:prSet presAssocID="{328B4516-3584-45E8-AA98-DFB68B020119}" presName="conn2-1" presStyleLbl="parChTrans1D2" presStyleIdx="1" presStyleCnt="2"/>
      <dgm:spPr/>
    </dgm:pt>
    <dgm:pt modelId="{80197B55-FF15-44D2-AB14-5A0DE1653A78}" type="pres">
      <dgm:prSet presAssocID="{328B4516-3584-45E8-AA98-DFB68B020119}" presName="connTx" presStyleLbl="parChTrans1D2" presStyleIdx="1" presStyleCnt="2"/>
      <dgm:spPr/>
    </dgm:pt>
    <dgm:pt modelId="{18F8EF48-ADBB-41F1-8FED-1F387D280750}" type="pres">
      <dgm:prSet presAssocID="{30DCAD71-0217-4F0B-8BF8-F4984EBAA025}" presName="root2" presStyleCnt="0"/>
      <dgm:spPr/>
    </dgm:pt>
    <dgm:pt modelId="{FD594B7E-0B54-4539-9038-153AF9D88266}" type="pres">
      <dgm:prSet presAssocID="{30DCAD71-0217-4F0B-8BF8-F4984EBAA025}" presName="LevelTwoTextNode" presStyleLbl="node2" presStyleIdx="1" presStyleCnt="2" custLinFactNeighborX="-1487" custLinFactNeighborY="75830">
        <dgm:presLayoutVars>
          <dgm:chPref val="3"/>
        </dgm:presLayoutVars>
      </dgm:prSet>
      <dgm:spPr/>
    </dgm:pt>
    <dgm:pt modelId="{E79BC42E-0836-49C2-A12B-D2283656CACB}" type="pres">
      <dgm:prSet presAssocID="{30DCAD71-0217-4F0B-8BF8-F4984EBAA025}" presName="level3hierChild" presStyleCnt="0"/>
      <dgm:spPr/>
    </dgm:pt>
    <dgm:pt modelId="{AC8573A4-DED5-4600-AD5A-4E5AB6BD6BCF}" type="pres">
      <dgm:prSet presAssocID="{EE88D21F-DF3D-4D77-B00A-C0AB0C0909C6}" presName="conn2-1" presStyleLbl="parChTrans1D3" presStyleIdx="2" presStyleCnt="4"/>
      <dgm:spPr/>
    </dgm:pt>
    <dgm:pt modelId="{53A2CCB5-74A8-45C0-BADD-96A91A5F9483}" type="pres">
      <dgm:prSet presAssocID="{EE88D21F-DF3D-4D77-B00A-C0AB0C0909C6}" presName="connTx" presStyleLbl="parChTrans1D3" presStyleIdx="2" presStyleCnt="4"/>
      <dgm:spPr/>
    </dgm:pt>
    <dgm:pt modelId="{65154207-DC89-4022-B5F4-69810EE8DFEE}" type="pres">
      <dgm:prSet presAssocID="{0FFEACEB-0D6B-4962-A027-CF11D2466996}" presName="root2" presStyleCnt="0"/>
      <dgm:spPr/>
    </dgm:pt>
    <dgm:pt modelId="{4BE57BD0-767F-42EC-B865-D492FB48E656}" type="pres">
      <dgm:prSet presAssocID="{0FFEACEB-0D6B-4962-A027-CF11D2466996}" presName="LevelTwoTextNode" presStyleLbl="node3" presStyleIdx="2" presStyleCnt="4" custLinFactNeighborX="-1140" custLinFactNeighborY="33266">
        <dgm:presLayoutVars>
          <dgm:chPref val="3"/>
        </dgm:presLayoutVars>
      </dgm:prSet>
      <dgm:spPr/>
    </dgm:pt>
    <dgm:pt modelId="{761D106E-3C2F-48E5-9482-609669222CA7}" type="pres">
      <dgm:prSet presAssocID="{0FFEACEB-0D6B-4962-A027-CF11D2466996}" presName="level3hierChild" presStyleCnt="0"/>
      <dgm:spPr/>
    </dgm:pt>
    <dgm:pt modelId="{2B964277-A7F3-4757-8957-303496DB89F1}" type="pres">
      <dgm:prSet presAssocID="{A050182E-758C-483F-9AAD-7F82F58F9C25}" presName="conn2-1" presStyleLbl="parChTrans1D3" presStyleIdx="3" presStyleCnt="4"/>
      <dgm:spPr/>
    </dgm:pt>
    <dgm:pt modelId="{33383C41-C972-4520-A1C3-CAE644A79E21}" type="pres">
      <dgm:prSet presAssocID="{A050182E-758C-483F-9AAD-7F82F58F9C25}" presName="connTx" presStyleLbl="parChTrans1D3" presStyleIdx="3" presStyleCnt="4"/>
      <dgm:spPr/>
    </dgm:pt>
    <dgm:pt modelId="{53B117D0-B7CB-43CC-AF48-78D3F70A13A8}" type="pres">
      <dgm:prSet presAssocID="{CAB43A89-80EA-43DF-AC8D-6C121F71894F}" presName="root2" presStyleCnt="0"/>
      <dgm:spPr/>
    </dgm:pt>
    <dgm:pt modelId="{047C63F1-9E74-4849-849D-7C7A7B8CAB21}" type="pres">
      <dgm:prSet presAssocID="{CAB43A89-80EA-43DF-AC8D-6C121F71894F}" presName="LevelTwoTextNode" presStyleLbl="node3" presStyleIdx="3" presStyleCnt="4" custLinFactY="13554" custLinFactNeighborX="4450" custLinFactNeighborY="100000">
        <dgm:presLayoutVars>
          <dgm:chPref val="3"/>
        </dgm:presLayoutVars>
      </dgm:prSet>
      <dgm:spPr/>
    </dgm:pt>
    <dgm:pt modelId="{1CAEEBBD-C0E7-4EA4-B632-72850942ACEC}" type="pres">
      <dgm:prSet presAssocID="{CAB43A89-80EA-43DF-AC8D-6C121F71894F}" presName="level3hierChild" presStyleCnt="0"/>
      <dgm:spPr/>
    </dgm:pt>
  </dgm:ptLst>
  <dgm:cxnLst>
    <dgm:cxn modelId="{1D9C4512-D2B3-4756-BAC4-1DE2FEA16217}" type="presOf" srcId="{83DA582E-AFA6-4CDF-BD1E-E5ABF6FFC6C1}" destId="{624EC35D-8C8B-403B-9CF8-A3C4AD48425A}" srcOrd="0" destOrd="0" presId="urn:microsoft.com/office/officeart/2005/8/layout/hierarchy2"/>
    <dgm:cxn modelId="{797D941A-61BA-4FF8-BF6C-0F36C23C957C}" srcId="{932384D6-4FCC-4440-A8A8-20CCD893089B}" destId="{55AA90DD-D1A1-4D48-AA54-27221D2E5E18}" srcOrd="0" destOrd="0" parTransId="{7C8B7155-99A6-4E04-AC2C-CEF9EF43A67A}" sibTransId="{AE570FF1-2CB3-44FB-8010-96A0B007D708}"/>
    <dgm:cxn modelId="{E6C08A21-FA56-46E3-8CB2-157294BE3D4E}" srcId="{AD6D2D68-BD95-4728-8128-4AA06C42E24E}" destId="{932384D6-4FCC-4440-A8A8-20CCD893089B}" srcOrd="0" destOrd="0" parTransId="{03783A13-06F7-45AE-A128-2C4AC9693FBC}" sibTransId="{5A3CC35D-B8EE-41BA-977E-54234667664E}"/>
    <dgm:cxn modelId="{44E07627-DF32-4B0C-A014-DB29D6E461DC}" type="presOf" srcId="{7C8B7155-99A6-4E04-AC2C-CEF9EF43A67A}" destId="{D0236411-EE05-4236-B819-60EC76A33BF2}" srcOrd="0" destOrd="0" presId="urn:microsoft.com/office/officeart/2005/8/layout/hierarchy2"/>
    <dgm:cxn modelId="{908EAE2D-CE05-4AB3-B2FA-023B423C4F1E}" type="presOf" srcId="{AD6D2D68-BD95-4728-8128-4AA06C42E24E}" destId="{F45E7B3D-0207-4E15-8D3B-5A992BA58C81}" srcOrd="0" destOrd="0" presId="urn:microsoft.com/office/officeart/2005/8/layout/hierarchy2"/>
    <dgm:cxn modelId="{D2D91230-AAC2-4BC8-AFF9-1DFD3104723B}" type="presOf" srcId="{932384D6-4FCC-4440-A8A8-20CCD893089B}" destId="{34C40545-A237-4238-AC43-F9C38FB43E95}" srcOrd="0" destOrd="0" presId="urn:microsoft.com/office/officeart/2005/8/layout/hierarchy2"/>
    <dgm:cxn modelId="{E3F8BE37-CB94-4394-9A44-7B559B2E3E1C}" type="presOf" srcId="{B054736D-C239-4157-B0AB-0B13CD19D637}" destId="{28A46FB7-D3F3-4B2B-AB1F-9726430F9094}" srcOrd="0" destOrd="0" presId="urn:microsoft.com/office/officeart/2005/8/layout/hierarchy2"/>
    <dgm:cxn modelId="{E2DD873E-4312-40E3-A4DE-E7D87CAA1E4D}" type="presOf" srcId="{7C8B7155-99A6-4E04-AC2C-CEF9EF43A67A}" destId="{E703E881-9B20-4FA0-84CC-723876278A73}" srcOrd="1" destOrd="0" presId="urn:microsoft.com/office/officeart/2005/8/layout/hierarchy2"/>
    <dgm:cxn modelId="{9D1C9D3F-A169-4E00-96AD-DC8BE4DA505D}" type="presOf" srcId="{EE88D21F-DF3D-4D77-B00A-C0AB0C0909C6}" destId="{AC8573A4-DED5-4600-AD5A-4E5AB6BD6BCF}" srcOrd="0" destOrd="0" presId="urn:microsoft.com/office/officeart/2005/8/layout/hierarchy2"/>
    <dgm:cxn modelId="{DCC6725C-6905-4852-B860-ED375B2FB37F}" type="presOf" srcId="{A60AC195-F6BE-4B52-8378-EFAD332AE7F9}" destId="{84D623FF-9E6D-41E9-9B9C-2FBECFA08403}" srcOrd="0" destOrd="0" presId="urn:microsoft.com/office/officeart/2005/8/layout/hierarchy2"/>
    <dgm:cxn modelId="{DC0B2062-5A09-43A7-B25A-FD08DAD6046C}" type="presOf" srcId="{A050182E-758C-483F-9AAD-7F82F58F9C25}" destId="{33383C41-C972-4520-A1C3-CAE644A79E21}" srcOrd="1" destOrd="0" presId="urn:microsoft.com/office/officeart/2005/8/layout/hierarchy2"/>
    <dgm:cxn modelId="{CB386742-583A-468A-B59B-F7E8C8F14EC2}" type="presOf" srcId="{EE88D21F-DF3D-4D77-B00A-C0AB0C0909C6}" destId="{53A2CCB5-74A8-45C0-BADD-96A91A5F9483}" srcOrd="1" destOrd="0" presId="urn:microsoft.com/office/officeart/2005/8/layout/hierarchy2"/>
    <dgm:cxn modelId="{0A799445-1C2B-436F-9DE5-ADCEB67C72FC}" srcId="{55AA90DD-D1A1-4D48-AA54-27221D2E5E18}" destId="{83DA582E-AFA6-4CDF-BD1E-E5ABF6FFC6C1}" srcOrd="0" destOrd="0" parTransId="{B054736D-C239-4157-B0AB-0B13CD19D637}" sibTransId="{75512FAD-84D4-40DC-8C24-E23D535A8776}"/>
    <dgm:cxn modelId="{A5AF3972-03E0-4F11-B30A-1C0C68C1CAF2}" type="presOf" srcId="{A050182E-758C-483F-9AAD-7F82F58F9C25}" destId="{2B964277-A7F3-4757-8957-303496DB89F1}" srcOrd="0" destOrd="0" presId="urn:microsoft.com/office/officeart/2005/8/layout/hierarchy2"/>
    <dgm:cxn modelId="{68E33D52-E735-4384-8230-7141D82042B2}" type="presOf" srcId="{30DCAD71-0217-4F0B-8BF8-F4984EBAA025}" destId="{FD594B7E-0B54-4539-9038-153AF9D88266}" srcOrd="0" destOrd="0" presId="urn:microsoft.com/office/officeart/2005/8/layout/hierarchy2"/>
    <dgm:cxn modelId="{4E968158-8882-4877-9F18-0829A226CF71}" srcId="{932384D6-4FCC-4440-A8A8-20CCD893089B}" destId="{30DCAD71-0217-4F0B-8BF8-F4984EBAA025}" srcOrd="1" destOrd="0" parTransId="{328B4516-3584-45E8-AA98-DFB68B020119}" sibTransId="{46DC2BF0-7A71-40CF-8D20-0153BA009C0E}"/>
    <dgm:cxn modelId="{D08BDF7C-3EE1-4EEE-B5BC-E0F8F176BF93}" type="presOf" srcId="{5E0E8E9C-2A66-4961-BE22-28A1FA67603C}" destId="{1BA9FD0E-7F13-4448-B556-9E1E768139C4}" srcOrd="0" destOrd="0" presId="urn:microsoft.com/office/officeart/2005/8/layout/hierarchy2"/>
    <dgm:cxn modelId="{65F47A8B-2EA5-4F4A-8CB6-9965E1708B14}" type="presOf" srcId="{CAB43A89-80EA-43DF-AC8D-6C121F71894F}" destId="{047C63F1-9E74-4849-849D-7C7A7B8CAB21}" srcOrd="0" destOrd="0" presId="urn:microsoft.com/office/officeart/2005/8/layout/hierarchy2"/>
    <dgm:cxn modelId="{55FBEA8F-5BEE-4976-B94B-81FDAC428ECF}" srcId="{30DCAD71-0217-4F0B-8BF8-F4984EBAA025}" destId="{0FFEACEB-0D6B-4962-A027-CF11D2466996}" srcOrd="0" destOrd="0" parTransId="{EE88D21F-DF3D-4D77-B00A-C0AB0C0909C6}" sibTransId="{17BA1812-75D7-4C64-8290-6F68B18F7524}"/>
    <dgm:cxn modelId="{C837B3A4-4D5D-4CD4-BCF6-9A6CCDE2A290}" type="presOf" srcId="{328B4516-3584-45E8-AA98-DFB68B020119}" destId="{4E157C42-16CB-4B53-8D8D-D2250627AC80}" srcOrd="0" destOrd="0" presId="urn:microsoft.com/office/officeart/2005/8/layout/hierarchy2"/>
    <dgm:cxn modelId="{952459BB-B0C2-4381-8F5C-0349D7A02B08}" type="presOf" srcId="{A60AC195-F6BE-4B52-8378-EFAD332AE7F9}" destId="{11C97C4A-B993-424B-8E6A-5E76D7C2FF64}" srcOrd="1" destOrd="0" presId="urn:microsoft.com/office/officeart/2005/8/layout/hierarchy2"/>
    <dgm:cxn modelId="{C71C55BD-061D-417B-B725-EEEC94D41A13}" type="presOf" srcId="{328B4516-3584-45E8-AA98-DFB68B020119}" destId="{80197B55-FF15-44D2-AB14-5A0DE1653A78}" srcOrd="1" destOrd="0" presId="urn:microsoft.com/office/officeart/2005/8/layout/hierarchy2"/>
    <dgm:cxn modelId="{CE2C6CCD-249E-401D-BBE1-15F79BAA5C7D}" srcId="{30DCAD71-0217-4F0B-8BF8-F4984EBAA025}" destId="{CAB43A89-80EA-43DF-AC8D-6C121F71894F}" srcOrd="1" destOrd="0" parTransId="{A050182E-758C-483F-9AAD-7F82F58F9C25}" sibTransId="{A96F0D0C-0CA8-40D8-8D79-E6EFEFCA59B5}"/>
    <dgm:cxn modelId="{8333D3D5-3748-43D2-A4E8-AE4E5335ED80}" type="presOf" srcId="{0FFEACEB-0D6B-4962-A027-CF11D2466996}" destId="{4BE57BD0-767F-42EC-B865-D492FB48E656}" srcOrd="0" destOrd="0" presId="urn:microsoft.com/office/officeart/2005/8/layout/hierarchy2"/>
    <dgm:cxn modelId="{B595BDD9-F712-4974-83FA-F79CB9E39DC8}" type="presOf" srcId="{B054736D-C239-4157-B0AB-0B13CD19D637}" destId="{2A1C7025-33DD-4FAF-B70B-B56FD3A3E1D7}" srcOrd="1" destOrd="0" presId="urn:microsoft.com/office/officeart/2005/8/layout/hierarchy2"/>
    <dgm:cxn modelId="{134356E6-C847-43B4-AD12-F4E94B284AC4}" type="presOf" srcId="{55AA90DD-D1A1-4D48-AA54-27221D2E5E18}" destId="{A1096775-D8CD-4F45-BF42-D046D6E17C88}" srcOrd="0" destOrd="0" presId="urn:microsoft.com/office/officeart/2005/8/layout/hierarchy2"/>
    <dgm:cxn modelId="{C23257F6-0A0C-4AB2-881F-6235E63DA6BE}" srcId="{55AA90DD-D1A1-4D48-AA54-27221D2E5E18}" destId="{5E0E8E9C-2A66-4961-BE22-28A1FA67603C}" srcOrd="1" destOrd="0" parTransId="{A60AC195-F6BE-4B52-8378-EFAD332AE7F9}" sibTransId="{BAC36468-01F8-41CC-97DD-B4110B23DBB3}"/>
    <dgm:cxn modelId="{408026F2-245E-4F74-B486-7C834716E51A}" type="presParOf" srcId="{F45E7B3D-0207-4E15-8D3B-5A992BA58C81}" destId="{BCB5B1D0-AEC3-4964-9FAD-4AA00E724ABA}" srcOrd="0" destOrd="0" presId="urn:microsoft.com/office/officeart/2005/8/layout/hierarchy2"/>
    <dgm:cxn modelId="{E6A0EB04-FBA3-4DFF-8239-81B8F0333B6E}" type="presParOf" srcId="{BCB5B1D0-AEC3-4964-9FAD-4AA00E724ABA}" destId="{34C40545-A237-4238-AC43-F9C38FB43E95}" srcOrd="0" destOrd="0" presId="urn:microsoft.com/office/officeart/2005/8/layout/hierarchy2"/>
    <dgm:cxn modelId="{5B1A8E6F-01BF-4BE0-9F30-0A904A7FED16}" type="presParOf" srcId="{BCB5B1D0-AEC3-4964-9FAD-4AA00E724ABA}" destId="{A2A29F52-600E-4DCA-9245-29B217AFD704}" srcOrd="1" destOrd="0" presId="urn:microsoft.com/office/officeart/2005/8/layout/hierarchy2"/>
    <dgm:cxn modelId="{259FD25E-4F50-46AB-BC3A-081CF13B0637}" type="presParOf" srcId="{A2A29F52-600E-4DCA-9245-29B217AFD704}" destId="{D0236411-EE05-4236-B819-60EC76A33BF2}" srcOrd="0" destOrd="0" presId="urn:microsoft.com/office/officeart/2005/8/layout/hierarchy2"/>
    <dgm:cxn modelId="{7DABCD73-2136-46EC-A174-45A73AFE2A4A}" type="presParOf" srcId="{D0236411-EE05-4236-B819-60EC76A33BF2}" destId="{E703E881-9B20-4FA0-84CC-723876278A73}" srcOrd="0" destOrd="0" presId="urn:microsoft.com/office/officeart/2005/8/layout/hierarchy2"/>
    <dgm:cxn modelId="{E18798A6-828B-4FE8-991D-EACFF9AEF8EB}" type="presParOf" srcId="{A2A29F52-600E-4DCA-9245-29B217AFD704}" destId="{4FC5FAE9-9E4C-47AF-BFDA-A2E350A742AE}" srcOrd="1" destOrd="0" presId="urn:microsoft.com/office/officeart/2005/8/layout/hierarchy2"/>
    <dgm:cxn modelId="{011B4EF8-945B-4A32-9EB0-5793C2E78D02}" type="presParOf" srcId="{4FC5FAE9-9E4C-47AF-BFDA-A2E350A742AE}" destId="{A1096775-D8CD-4F45-BF42-D046D6E17C88}" srcOrd="0" destOrd="0" presId="urn:microsoft.com/office/officeart/2005/8/layout/hierarchy2"/>
    <dgm:cxn modelId="{BCCA9C9D-2187-4F9E-ABA2-111A7A819DAA}" type="presParOf" srcId="{4FC5FAE9-9E4C-47AF-BFDA-A2E350A742AE}" destId="{76608983-2240-4A46-A925-20F412FB88D8}" srcOrd="1" destOrd="0" presId="urn:microsoft.com/office/officeart/2005/8/layout/hierarchy2"/>
    <dgm:cxn modelId="{A9528FF2-AFEC-4726-83BD-23233851CFB7}" type="presParOf" srcId="{76608983-2240-4A46-A925-20F412FB88D8}" destId="{28A46FB7-D3F3-4B2B-AB1F-9726430F9094}" srcOrd="0" destOrd="0" presId="urn:microsoft.com/office/officeart/2005/8/layout/hierarchy2"/>
    <dgm:cxn modelId="{055E7CDB-5D93-4E3A-B89B-BE0ED7B7E3CF}" type="presParOf" srcId="{28A46FB7-D3F3-4B2B-AB1F-9726430F9094}" destId="{2A1C7025-33DD-4FAF-B70B-B56FD3A3E1D7}" srcOrd="0" destOrd="0" presId="urn:microsoft.com/office/officeart/2005/8/layout/hierarchy2"/>
    <dgm:cxn modelId="{AAF00151-72B1-406C-B477-FA8EFCB59CF4}" type="presParOf" srcId="{76608983-2240-4A46-A925-20F412FB88D8}" destId="{14BF3D74-7E10-4027-AAD2-F98D8B90942C}" srcOrd="1" destOrd="0" presId="urn:microsoft.com/office/officeart/2005/8/layout/hierarchy2"/>
    <dgm:cxn modelId="{0A7C6685-3415-4495-8948-FA8CB5484610}" type="presParOf" srcId="{14BF3D74-7E10-4027-AAD2-F98D8B90942C}" destId="{624EC35D-8C8B-403B-9CF8-A3C4AD48425A}" srcOrd="0" destOrd="0" presId="urn:microsoft.com/office/officeart/2005/8/layout/hierarchy2"/>
    <dgm:cxn modelId="{994FF97D-1EAA-47B8-AAF6-9D9DDFCD9DC3}" type="presParOf" srcId="{14BF3D74-7E10-4027-AAD2-F98D8B90942C}" destId="{FD4404C6-2412-44B2-A8EF-B3A5E7D7B155}" srcOrd="1" destOrd="0" presId="urn:microsoft.com/office/officeart/2005/8/layout/hierarchy2"/>
    <dgm:cxn modelId="{7AEFED2A-E015-47DD-A90A-4C12BA705100}" type="presParOf" srcId="{76608983-2240-4A46-A925-20F412FB88D8}" destId="{84D623FF-9E6D-41E9-9B9C-2FBECFA08403}" srcOrd="2" destOrd="0" presId="urn:microsoft.com/office/officeart/2005/8/layout/hierarchy2"/>
    <dgm:cxn modelId="{31D5573B-7B69-4F1A-AD54-B0897A774D8A}" type="presParOf" srcId="{84D623FF-9E6D-41E9-9B9C-2FBECFA08403}" destId="{11C97C4A-B993-424B-8E6A-5E76D7C2FF64}" srcOrd="0" destOrd="0" presId="urn:microsoft.com/office/officeart/2005/8/layout/hierarchy2"/>
    <dgm:cxn modelId="{C4F7BD48-2E6A-4821-AAFA-1AEC10EBB07A}" type="presParOf" srcId="{76608983-2240-4A46-A925-20F412FB88D8}" destId="{92C32EDD-72E6-40D3-9B34-BB0B61B708E1}" srcOrd="3" destOrd="0" presId="urn:microsoft.com/office/officeart/2005/8/layout/hierarchy2"/>
    <dgm:cxn modelId="{0F5B514F-1ED9-48B1-8B99-31C085EF9338}" type="presParOf" srcId="{92C32EDD-72E6-40D3-9B34-BB0B61B708E1}" destId="{1BA9FD0E-7F13-4448-B556-9E1E768139C4}" srcOrd="0" destOrd="0" presId="urn:microsoft.com/office/officeart/2005/8/layout/hierarchy2"/>
    <dgm:cxn modelId="{6F76606E-22E3-4042-A6E2-605EA6D815CF}" type="presParOf" srcId="{92C32EDD-72E6-40D3-9B34-BB0B61B708E1}" destId="{885F3955-0B23-4E5B-B408-364F4886B525}" srcOrd="1" destOrd="0" presId="urn:microsoft.com/office/officeart/2005/8/layout/hierarchy2"/>
    <dgm:cxn modelId="{1C39D8B5-39D0-4901-B4A9-FBD401D51083}" type="presParOf" srcId="{A2A29F52-600E-4DCA-9245-29B217AFD704}" destId="{4E157C42-16CB-4B53-8D8D-D2250627AC80}" srcOrd="2" destOrd="0" presId="urn:microsoft.com/office/officeart/2005/8/layout/hierarchy2"/>
    <dgm:cxn modelId="{2B46BBDC-9EFA-4B2B-81B4-0D48A759A112}" type="presParOf" srcId="{4E157C42-16CB-4B53-8D8D-D2250627AC80}" destId="{80197B55-FF15-44D2-AB14-5A0DE1653A78}" srcOrd="0" destOrd="0" presId="urn:microsoft.com/office/officeart/2005/8/layout/hierarchy2"/>
    <dgm:cxn modelId="{318A5CEC-072B-4AC7-818C-FA7A1279AFFD}" type="presParOf" srcId="{A2A29F52-600E-4DCA-9245-29B217AFD704}" destId="{18F8EF48-ADBB-41F1-8FED-1F387D280750}" srcOrd="3" destOrd="0" presId="urn:microsoft.com/office/officeart/2005/8/layout/hierarchy2"/>
    <dgm:cxn modelId="{5CCA1272-1A27-4D82-85FE-9FD9FC8F8ED9}" type="presParOf" srcId="{18F8EF48-ADBB-41F1-8FED-1F387D280750}" destId="{FD594B7E-0B54-4539-9038-153AF9D88266}" srcOrd="0" destOrd="0" presId="urn:microsoft.com/office/officeart/2005/8/layout/hierarchy2"/>
    <dgm:cxn modelId="{D084F1EA-22CC-42EA-9B16-64E28C46D8CA}" type="presParOf" srcId="{18F8EF48-ADBB-41F1-8FED-1F387D280750}" destId="{E79BC42E-0836-49C2-A12B-D2283656CACB}" srcOrd="1" destOrd="0" presId="urn:microsoft.com/office/officeart/2005/8/layout/hierarchy2"/>
    <dgm:cxn modelId="{49B32084-1D92-49DF-B206-BDAA6CFF4270}" type="presParOf" srcId="{E79BC42E-0836-49C2-A12B-D2283656CACB}" destId="{AC8573A4-DED5-4600-AD5A-4E5AB6BD6BCF}" srcOrd="0" destOrd="0" presId="urn:microsoft.com/office/officeart/2005/8/layout/hierarchy2"/>
    <dgm:cxn modelId="{F7B16ED4-5230-413A-8EA6-21C760920F82}" type="presParOf" srcId="{AC8573A4-DED5-4600-AD5A-4E5AB6BD6BCF}" destId="{53A2CCB5-74A8-45C0-BADD-96A91A5F9483}" srcOrd="0" destOrd="0" presId="urn:microsoft.com/office/officeart/2005/8/layout/hierarchy2"/>
    <dgm:cxn modelId="{FE8172FE-3E8F-4601-A5DC-2BBC1B2E48D2}" type="presParOf" srcId="{E79BC42E-0836-49C2-A12B-D2283656CACB}" destId="{65154207-DC89-4022-B5F4-69810EE8DFEE}" srcOrd="1" destOrd="0" presId="urn:microsoft.com/office/officeart/2005/8/layout/hierarchy2"/>
    <dgm:cxn modelId="{5EE7BC0E-70F2-4170-A194-CCFC1ADFB4F4}" type="presParOf" srcId="{65154207-DC89-4022-B5F4-69810EE8DFEE}" destId="{4BE57BD0-767F-42EC-B865-D492FB48E656}" srcOrd="0" destOrd="0" presId="urn:microsoft.com/office/officeart/2005/8/layout/hierarchy2"/>
    <dgm:cxn modelId="{CF7A2338-3C7E-4702-A185-2D00F24F64C0}" type="presParOf" srcId="{65154207-DC89-4022-B5F4-69810EE8DFEE}" destId="{761D106E-3C2F-48E5-9482-609669222CA7}" srcOrd="1" destOrd="0" presId="urn:microsoft.com/office/officeart/2005/8/layout/hierarchy2"/>
    <dgm:cxn modelId="{D4F3E4CC-A89A-4C1E-B172-E4FDAFDBFE7C}" type="presParOf" srcId="{E79BC42E-0836-49C2-A12B-D2283656CACB}" destId="{2B964277-A7F3-4757-8957-303496DB89F1}" srcOrd="2" destOrd="0" presId="urn:microsoft.com/office/officeart/2005/8/layout/hierarchy2"/>
    <dgm:cxn modelId="{7031B08C-79B8-47ED-B1A5-C8DA3E692AAC}" type="presParOf" srcId="{2B964277-A7F3-4757-8957-303496DB89F1}" destId="{33383C41-C972-4520-A1C3-CAE644A79E21}" srcOrd="0" destOrd="0" presId="urn:microsoft.com/office/officeart/2005/8/layout/hierarchy2"/>
    <dgm:cxn modelId="{7685486A-54DF-48B7-A474-8C07F577F851}" type="presParOf" srcId="{E79BC42E-0836-49C2-A12B-D2283656CACB}" destId="{53B117D0-B7CB-43CC-AF48-78D3F70A13A8}" srcOrd="3" destOrd="0" presId="urn:microsoft.com/office/officeart/2005/8/layout/hierarchy2"/>
    <dgm:cxn modelId="{AA9B7D71-CBA1-4B1C-8ED9-F4DE49D97A98}" type="presParOf" srcId="{53B117D0-B7CB-43CC-AF48-78D3F70A13A8}" destId="{047C63F1-9E74-4849-849D-7C7A7B8CAB21}" srcOrd="0" destOrd="0" presId="urn:microsoft.com/office/officeart/2005/8/layout/hierarchy2"/>
    <dgm:cxn modelId="{8C65867A-CA81-4778-91EA-365243FEED40}" type="presParOf" srcId="{53B117D0-B7CB-43CC-AF48-78D3F70A13A8}" destId="{1CAEEBBD-C0E7-4EA4-B632-72850942ACE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C40545-A237-4238-AC43-F9C38FB43E95}">
      <dsp:nvSpPr>
        <dsp:cNvPr id="0" name=""/>
        <dsp:cNvSpPr/>
      </dsp:nvSpPr>
      <dsp:spPr>
        <a:xfrm>
          <a:off x="3532" y="1714996"/>
          <a:ext cx="1268015" cy="63400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it-IT" sz="1500" kern="1200" dirty="0"/>
            <a:t>Machine Learning</a:t>
          </a:r>
        </a:p>
      </dsp:txBody>
      <dsp:txXfrm>
        <a:off x="22101" y="1733565"/>
        <a:ext cx="1230877" cy="596869"/>
      </dsp:txXfrm>
    </dsp:sp>
    <dsp:sp modelId="{D0236411-EE05-4236-B819-60EC76A33BF2}">
      <dsp:nvSpPr>
        <dsp:cNvPr id="0" name=""/>
        <dsp:cNvSpPr/>
      </dsp:nvSpPr>
      <dsp:spPr>
        <a:xfrm rot="18289469">
          <a:off x="1081063" y="1653404"/>
          <a:ext cx="888176" cy="28081"/>
        </a:xfrm>
        <a:custGeom>
          <a:avLst/>
          <a:gdLst/>
          <a:ahLst/>
          <a:cxnLst/>
          <a:rect l="0" t="0" r="0" b="0"/>
          <a:pathLst>
            <a:path>
              <a:moveTo>
                <a:pt x="0" y="14040"/>
              </a:moveTo>
              <a:lnTo>
                <a:pt x="888176" y="1404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it-IT" sz="500" kern="1200"/>
        </a:p>
      </dsp:txBody>
      <dsp:txXfrm>
        <a:off x="1502947" y="1645241"/>
        <a:ext cx="44408" cy="44408"/>
      </dsp:txXfrm>
    </dsp:sp>
    <dsp:sp modelId="{A1096775-D8CD-4F45-BF42-D046D6E17C88}">
      <dsp:nvSpPr>
        <dsp:cNvPr id="0" name=""/>
        <dsp:cNvSpPr/>
      </dsp:nvSpPr>
      <dsp:spPr>
        <a:xfrm>
          <a:off x="1778754" y="985887"/>
          <a:ext cx="1268015" cy="63400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it-IT" sz="1500" kern="1200" dirty="0"/>
            <a:t>Supervisionato</a:t>
          </a:r>
        </a:p>
      </dsp:txBody>
      <dsp:txXfrm>
        <a:off x="1797323" y="1004456"/>
        <a:ext cx="1230877" cy="596869"/>
      </dsp:txXfrm>
    </dsp:sp>
    <dsp:sp modelId="{28A46FB7-D3F3-4B2B-AB1F-9726430F9094}">
      <dsp:nvSpPr>
        <dsp:cNvPr id="0" name=""/>
        <dsp:cNvSpPr/>
      </dsp:nvSpPr>
      <dsp:spPr>
        <a:xfrm rot="18175443">
          <a:off x="2832301" y="894472"/>
          <a:ext cx="939676" cy="28081"/>
        </a:xfrm>
        <a:custGeom>
          <a:avLst/>
          <a:gdLst/>
          <a:ahLst/>
          <a:cxnLst/>
          <a:rect l="0" t="0" r="0" b="0"/>
          <a:pathLst>
            <a:path>
              <a:moveTo>
                <a:pt x="0" y="14040"/>
              </a:moveTo>
              <a:lnTo>
                <a:pt x="939676" y="14040"/>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it-IT" sz="500" kern="1200"/>
        </a:p>
      </dsp:txBody>
      <dsp:txXfrm>
        <a:off x="3278647" y="885020"/>
        <a:ext cx="46983" cy="46983"/>
      </dsp:txXfrm>
    </dsp:sp>
    <dsp:sp modelId="{624EC35D-8C8B-403B-9CF8-A3C4AD48425A}">
      <dsp:nvSpPr>
        <dsp:cNvPr id="0" name=""/>
        <dsp:cNvSpPr/>
      </dsp:nvSpPr>
      <dsp:spPr>
        <a:xfrm>
          <a:off x="3557509" y="197130"/>
          <a:ext cx="1268015" cy="63400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it-IT" sz="1500" kern="1200" dirty="0"/>
            <a:t>Classificazione</a:t>
          </a:r>
        </a:p>
      </dsp:txBody>
      <dsp:txXfrm>
        <a:off x="3576078" y="215699"/>
        <a:ext cx="1230877" cy="596869"/>
      </dsp:txXfrm>
    </dsp:sp>
    <dsp:sp modelId="{84D623FF-9E6D-41E9-9B9C-2FBECFA08403}">
      <dsp:nvSpPr>
        <dsp:cNvPr id="0" name=""/>
        <dsp:cNvSpPr/>
      </dsp:nvSpPr>
      <dsp:spPr>
        <a:xfrm rot="2131105">
          <a:off x="2988390" y="1471127"/>
          <a:ext cx="627498" cy="28081"/>
        </a:xfrm>
        <a:custGeom>
          <a:avLst/>
          <a:gdLst/>
          <a:ahLst/>
          <a:cxnLst/>
          <a:rect l="0" t="0" r="0" b="0"/>
          <a:pathLst>
            <a:path>
              <a:moveTo>
                <a:pt x="0" y="14040"/>
              </a:moveTo>
              <a:lnTo>
                <a:pt x="627498" y="14040"/>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it-IT" sz="500" kern="1200"/>
        </a:p>
      </dsp:txBody>
      <dsp:txXfrm>
        <a:off x="3286452" y="1469480"/>
        <a:ext cx="31374" cy="31374"/>
      </dsp:txXfrm>
    </dsp:sp>
    <dsp:sp modelId="{1BA9FD0E-7F13-4448-B556-9E1E768139C4}">
      <dsp:nvSpPr>
        <dsp:cNvPr id="0" name=""/>
        <dsp:cNvSpPr/>
      </dsp:nvSpPr>
      <dsp:spPr>
        <a:xfrm>
          <a:off x="3557509" y="1350441"/>
          <a:ext cx="1268015" cy="63400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it-IT" sz="1500" kern="1200" dirty="0"/>
            <a:t>Regressione</a:t>
          </a:r>
        </a:p>
      </dsp:txBody>
      <dsp:txXfrm>
        <a:off x="3576078" y="1369010"/>
        <a:ext cx="1230877" cy="596869"/>
      </dsp:txXfrm>
    </dsp:sp>
    <dsp:sp modelId="{4E157C42-16CB-4B53-8D8D-D2250627AC80}">
      <dsp:nvSpPr>
        <dsp:cNvPr id="0" name=""/>
        <dsp:cNvSpPr/>
      </dsp:nvSpPr>
      <dsp:spPr>
        <a:xfrm rot="4081151">
          <a:off x="863364" y="2622898"/>
          <a:ext cx="1304718" cy="28081"/>
        </a:xfrm>
        <a:custGeom>
          <a:avLst/>
          <a:gdLst/>
          <a:ahLst/>
          <a:cxnLst/>
          <a:rect l="0" t="0" r="0" b="0"/>
          <a:pathLst>
            <a:path>
              <a:moveTo>
                <a:pt x="0" y="14040"/>
              </a:moveTo>
              <a:lnTo>
                <a:pt x="1304718" y="1404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it-IT" sz="500" kern="1200"/>
        </a:p>
      </dsp:txBody>
      <dsp:txXfrm>
        <a:off x="1483105" y="2604320"/>
        <a:ext cx="65235" cy="65235"/>
      </dsp:txXfrm>
    </dsp:sp>
    <dsp:sp modelId="{FD594B7E-0B54-4539-9038-153AF9D88266}">
      <dsp:nvSpPr>
        <dsp:cNvPr id="0" name=""/>
        <dsp:cNvSpPr/>
      </dsp:nvSpPr>
      <dsp:spPr>
        <a:xfrm>
          <a:off x="1759899" y="2924873"/>
          <a:ext cx="1268015" cy="63400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it-IT" sz="1500" kern="1200" dirty="0"/>
            <a:t>Non supervisionato</a:t>
          </a:r>
        </a:p>
      </dsp:txBody>
      <dsp:txXfrm>
        <a:off x="1778468" y="2943442"/>
        <a:ext cx="1230877" cy="596869"/>
      </dsp:txXfrm>
    </dsp:sp>
    <dsp:sp modelId="{AC8573A4-DED5-4600-AD5A-4E5AB6BD6BCF}">
      <dsp:nvSpPr>
        <dsp:cNvPr id="0" name=""/>
        <dsp:cNvSpPr/>
      </dsp:nvSpPr>
      <dsp:spPr>
        <a:xfrm rot="18533012">
          <a:off x="2876219" y="2910629"/>
          <a:ext cx="814997" cy="28081"/>
        </a:xfrm>
        <a:custGeom>
          <a:avLst/>
          <a:gdLst/>
          <a:ahLst/>
          <a:cxnLst/>
          <a:rect l="0" t="0" r="0" b="0"/>
          <a:pathLst>
            <a:path>
              <a:moveTo>
                <a:pt x="0" y="14040"/>
              </a:moveTo>
              <a:lnTo>
                <a:pt x="814997" y="14040"/>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it-IT" sz="500" kern="1200"/>
        </a:p>
      </dsp:txBody>
      <dsp:txXfrm>
        <a:off x="3263343" y="2904295"/>
        <a:ext cx="40749" cy="40749"/>
      </dsp:txXfrm>
    </dsp:sp>
    <dsp:sp modelId="{4BE57BD0-767F-42EC-B865-D492FB48E656}">
      <dsp:nvSpPr>
        <dsp:cNvPr id="0" name=""/>
        <dsp:cNvSpPr/>
      </dsp:nvSpPr>
      <dsp:spPr>
        <a:xfrm>
          <a:off x="3539521" y="2290459"/>
          <a:ext cx="1268015" cy="63400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it-IT" sz="1500" kern="1200" dirty="0"/>
            <a:t>Clustering</a:t>
          </a:r>
        </a:p>
      </dsp:txBody>
      <dsp:txXfrm>
        <a:off x="3558090" y="2309028"/>
        <a:ext cx="1230877" cy="596869"/>
      </dsp:txXfrm>
    </dsp:sp>
    <dsp:sp modelId="{2B964277-A7F3-4757-8957-303496DB89F1}">
      <dsp:nvSpPr>
        <dsp:cNvPr id="0" name=""/>
        <dsp:cNvSpPr/>
      </dsp:nvSpPr>
      <dsp:spPr>
        <a:xfrm rot="2618698">
          <a:off x="2926783" y="3480396"/>
          <a:ext cx="731857" cy="28081"/>
        </a:xfrm>
        <a:custGeom>
          <a:avLst/>
          <a:gdLst/>
          <a:ahLst/>
          <a:cxnLst/>
          <a:rect l="0" t="0" r="0" b="0"/>
          <a:pathLst>
            <a:path>
              <a:moveTo>
                <a:pt x="0" y="14040"/>
              </a:moveTo>
              <a:lnTo>
                <a:pt x="731857" y="14040"/>
              </a:lnTo>
            </a:path>
          </a:pathLst>
        </a:custGeom>
        <a:noFill/>
        <a:ln w="127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it-IT" sz="500" kern="1200"/>
        </a:p>
      </dsp:txBody>
      <dsp:txXfrm>
        <a:off x="3274415" y="3476140"/>
        <a:ext cx="36592" cy="36592"/>
      </dsp:txXfrm>
    </dsp:sp>
    <dsp:sp modelId="{047C63F1-9E74-4849-849D-7C7A7B8CAB21}">
      <dsp:nvSpPr>
        <dsp:cNvPr id="0" name=""/>
        <dsp:cNvSpPr/>
      </dsp:nvSpPr>
      <dsp:spPr>
        <a:xfrm>
          <a:off x="3557509" y="3429992"/>
          <a:ext cx="1268015" cy="63400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it-IT" sz="1500" kern="1200" dirty="0"/>
            <a:t>Riduzione della dimensionalità</a:t>
          </a:r>
        </a:p>
      </dsp:txBody>
      <dsp:txXfrm>
        <a:off x="3576078" y="3448561"/>
        <a:ext cx="1230877" cy="59686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E2127B-8F13-4D09-9933-81E828516530}" type="datetimeFigureOut">
              <a:rPr lang="it-IT" smtClean="0"/>
              <a:t>05/08/2026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89F6A2-DC94-4AB5-9DF2-B100DAC88189}" type="slidenum">
              <a:rPr lang="it-IT" smtClean="0"/>
              <a:t>‹N›</a:t>
            </a:fld>
            <a:endParaRPr lang="it-IT"/>
          </a:p>
        </p:txBody>
      </p:sp>
    </p:spTree>
    <p:extLst>
      <p:ext uri="{BB962C8B-B14F-4D97-AF65-F5344CB8AC3E}">
        <p14:creationId xmlns:p14="http://schemas.microsoft.com/office/powerpoint/2010/main" val="314392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389F6A2-DC94-4AB5-9DF2-B100DAC88189}" type="slidenum">
              <a:rPr lang="it-IT" smtClean="0"/>
              <a:t>6</a:t>
            </a:fld>
            <a:endParaRPr lang="it-IT"/>
          </a:p>
        </p:txBody>
      </p:sp>
    </p:spTree>
    <p:extLst>
      <p:ext uri="{BB962C8B-B14F-4D97-AF65-F5344CB8AC3E}">
        <p14:creationId xmlns:p14="http://schemas.microsoft.com/office/powerpoint/2010/main" val="3747541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48D80692-22EC-4840-9AC0-A6A8BE09A1C7}" type="slidenum">
              <a:rPr lang="it-IT" smtClean="0"/>
              <a:t>8</a:t>
            </a:fld>
            <a:endParaRPr lang="it-IT"/>
          </a:p>
        </p:txBody>
      </p:sp>
    </p:spTree>
    <p:extLst>
      <p:ext uri="{BB962C8B-B14F-4D97-AF65-F5344CB8AC3E}">
        <p14:creationId xmlns:p14="http://schemas.microsoft.com/office/powerpoint/2010/main" val="4139669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it-IT"/>
              <a:t>Fare clic per modificare lo stile del sottotitolo dello schema</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788F5FEB-2D19-4D32-99A1-4B8516BF6F12}" type="datetimeFigureOut">
              <a:rPr lang="it-IT" smtClean="0"/>
              <a:t>05/08/2026</a:t>
            </a:fld>
            <a:endParaRPr lang="it-IT"/>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it-IT"/>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FEB3E853-0B1C-4222-8A08-62959782D903}" type="slidenum">
              <a:rPr lang="it-IT" smtClean="0"/>
              <a:t>‹N›</a:t>
            </a:fld>
            <a:endParaRPr lang="it-IT"/>
          </a:p>
        </p:txBody>
      </p:sp>
    </p:spTree>
    <p:extLst>
      <p:ext uri="{BB962C8B-B14F-4D97-AF65-F5344CB8AC3E}">
        <p14:creationId xmlns:p14="http://schemas.microsoft.com/office/powerpoint/2010/main" val="3091219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788F5FEB-2D19-4D32-99A1-4B8516BF6F12}" type="datetimeFigureOut">
              <a:rPr lang="it-IT" smtClean="0"/>
              <a:t>05/08/2026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EB3E853-0B1C-4222-8A08-62959782D903}" type="slidenum">
              <a:rPr lang="it-IT" smtClean="0"/>
              <a:t>‹N›</a:t>
            </a:fld>
            <a:endParaRPr lang="it-IT"/>
          </a:p>
        </p:txBody>
      </p:sp>
    </p:spTree>
    <p:extLst>
      <p:ext uri="{BB962C8B-B14F-4D97-AF65-F5344CB8AC3E}">
        <p14:creationId xmlns:p14="http://schemas.microsoft.com/office/powerpoint/2010/main" val="319547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788F5FEB-2D19-4D32-99A1-4B8516BF6F12}" type="datetimeFigureOut">
              <a:rPr lang="it-IT" smtClean="0"/>
              <a:t>05/08/2026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EB3E853-0B1C-4222-8A08-62959782D903}" type="slidenum">
              <a:rPr lang="it-IT" smtClean="0"/>
              <a:t>‹N›</a:t>
            </a:fld>
            <a:endParaRPr lang="it-IT"/>
          </a:p>
        </p:txBody>
      </p:sp>
    </p:spTree>
    <p:extLst>
      <p:ext uri="{BB962C8B-B14F-4D97-AF65-F5344CB8AC3E}">
        <p14:creationId xmlns:p14="http://schemas.microsoft.com/office/powerpoint/2010/main" val="522389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788F5FEB-2D19-4D32-99A1-4B8516BF6F12}" type="datetimeFigureOut">
              <a:rPr lang="it-IT" smtClean="0"/>
              <a:t>05/08/2026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fld id="{FEB3E853-0B1C-4222-8A08-62959782D903}" type="slidenum">
              <a:rPr lang="it-IT" smtClean="0"/>
              <a:t>‹N›</a:t>
            </a:fld>
            <a:endParaRPr lang="it-IT"/>
          </a:p>
        </p:txBody>
      </p:sp>
    </p:spTree>
    <p:extLst>
      <p:ext uri="{BB962C8B-B14F-4D97-AF65-F5344CB8AC3E}">
        <p14:creationId xmlns:p14="http://schemas.microsoft.com/office/powerpoint/2010/main" val="2220122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788F5FEB-2D19-4D32-99A1-4B8516BF6F12}" type="datetimeFigureOut">
              <a:rPr lang="it-IT" smtClean="0"/>
              <a:t>05/08/2026</a:t>
            </a:fld>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fld id="{FEB3E853-0B1C-4222-8A08-62959782D903}" type="slidenum">
              <a:rPr lang="it-IT" smtClean="0"/>
              <a:t>‹N›</a:t>
            </a:fld>
            <a:endParaRPr lang="it-IT"/>
          </a:p>
        </p:txBody>
      </p:sp>
    </p:spTree>
    <p:extLst>
      <p:ext uri="{BB962C8B-B14F-4D97-AF65-F5344CB8AC3E}">
        <p14:creationId xmlns:p14="http://schemas.microsoft.com/office/powerpoint/2010/main" val="1840397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788F5FEB-2D19-4D32-99A1-4B8516BF6F12}" type="datetimeFigureOut">
              <a:rPr lang="it-IT" smtClean="0"/>
              <a:t>05/08/2026</a:t>
            </a:fld>
            <a:endParaRPr lang="it-IT"/>
          </a:p>
        </p:txBody>
      </p:sp>
      <p:sp>
        <p:nvSpPr>
          <p:cNvPr id="4" name="Footer Placeholder 3"/>
          <p:cNvSpPr>
            <a:spLocks noGrp="1"/>
          </p:cNvSpPr>
          <p:nvPr>
            <p:ph type="ftr" sz="quarter" idx="11"/>
          </p:nvPr>
        </p:nvSpPr>
        <p:spPr/>
        <p:txBody>
          <a:bodyPr/>
          <a:lstStyle/>
          <a:p>
            <a:endParaRPr lang="it-IT"/>
          </a:p>
        </p:txBody>
      </p:sp>
      <p:sp>
        <p:nvSpPr>
          <p:cNvPr id="5" name="Slide Number Placeholder 4"/>
          <p:cNvSpPr>
            <a:spLocks noGrp="1"/>
          </p:cNvSpPr>
          <p:nvPr>
            <p:ph type="sldNum" sz="quarter" idx="12"/>
          </p:nvPr>
        </p:nvSpPr>
        <p:spPr/>
        <p:txBody>
          <a:bodyPr/>
          <a:lstStyle/>
          <a:p>
            <a:fld id="{FEB3E853-0B1C-4222-8A08-62959782D903}" type="slidenum">
              <a:rPr lang="it-IT" smtClean="0"/>
              <a:t>‹N›</a:t>
            </a:fld>
            <a:endParaRPr lang="it-IT"/>
          </a:p>
        </p:txBody>
      </p:sp>
    </p:spTree>
    <p:extLst>
      <p:ext uri="{BB962C8B-B14F-4D97-AF65-F5344CB8AC3E}">
        <p14:creationId xmlns:p14="http://schemas.microsoft.com/office/powerpoint/2010/main" val="2967751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8F5FEB-2D19-4D32-99A1-4B8516BF6F12}" type="datetimeFigureOut">
              <a:rPr lang="it-IT" smtClean="0"/>
              <a:t>05/08/2026</a:t>
            </a:fld>
            <a:endParaRPr lang="it-IT"/>
          </a:p>
        </p:txBody>
      </p:sp>
      <p:sp>
        <p:nvSpPr>
          <p:cNvPr id="3" name="Footer Placeholder 2"/>
          <p:cNvSpPr>
            <a:spLocks noGrp="1"/>
          </p:cNvSpPr>
          <p:nvPr>
            <p:ph type="ftr" sz="quarter" idx="11"/>
          </p:nvPr>
        </p:nvSpPr>
        <p:spPr/>
        <p:txBody>
          <a:bodyPr/>
          <a:lstStyle/>
          <a:p>
            <a:endParaRPr lang="it-IT"/>
          </a:p>
        </p:txBody>
      </p:sp>
      <p:sp>
        <p:nvSpPr>
          <p:cNvPr id="4" name="Slide Number Placeholder 3"/>
          <p:cNvSpPr>
            <a:spLocks noGrp="1"/>
          </p:cNvSpPr>
          <p:nvPr>
            <p:ph type="sldNum" sz="quarter" idx="12"/>
          </p:nvPr>
        </p:nvSpPr>
        <p:spPr/>
        <p:txBody>
          <a:bodyPr/>
          <a:lstStyle/>
          <a:p>
            <a:fld id="{FEB3E853-0B1C-4222-8A08-62959782D903}" type="slidenum">
              <a:rPr lang="it-IT" smtClean="0"/>
              <a:t>‹N›</a:t>
            </a:fld>
            <a:endParaRPr lang="it-IT"/>
          </a:p>
        </p:txBody>
      </p:sp>
    </p:spTree>
    <p:extLst>
      <p:ext uri="{BB962C8B-B14F-4D97-AF65-F5344CB8AC3E}">
        <p14:creationId xmlns:p14="http://schemas.microsoft.com/office/powerpoint/2010/main" val="2530171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it-IT"/>
              <a:t>Fare clic per modificare lo stile del titolo dello schema</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it-IT"/>
              <a:t>Fare clic per modificare gli stili del testo dello schema</a:t>
            </a:r>
          </a:p>
        </p:txBody>
      </p:sp>
      <p:sp>
        <p:nvSpPr>
          <p:cNvPr id="5" name="Date Placeholder 4"/>
          <p:cNvSpPr>
            <a:spLocks noGrp="1"/>
          </p:cNvSpPr>
          <p:nvPr>
            <p:ph type="dt" sz="half" idx="10"/>
          </p:nvPr>
        </p:nvSpPr>
        <p:spPr/>
        <p:txBody>
          <a:bodyPr/>
          <a:lstStyle/>
          <a:p>
            <a:fld id="{788F5FEB-2D19-4D32-99A1-4B8516BF6F12}" type="datetimeFigureOut">
              <a:rPr lang="it-IT" smtClean="0"/>
              <a:t>05/08/2026</a:t>
            </a:fld>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FEB3E853-0B1C-4222-8A08-62959782D903}" type="slidenum">
              <a:rPr lang="it-IT" smtClean="0"/>
              <a:t>‹N›</a:t>
            </a:fld>
            <a:endParaRPr lang="it-IT"/>
          </a:p>
        </p:txBody>
      </p:sp>
    </p:spTree>
    <p:extLst>
      <p:ext uri="{BB962C8B-B14F-4D97-AF65-F5344CB8AC3E}">
        <p14:creationId xmlns:p14="http://schemas.microsoft.com/office/powerpoint/2010/main" val="2276135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Fare clic sull'icona per inserire un'immagine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788F5FEB-2D19-4D32-99A1-4B8516BF6F12}" type="datetimeFigureOut">
              <a:rPr lang="it-IT" smtClean="0"/>
              <a:t>05/08/2026</a:t>
            </a:fld>
            <a:endParaRPr lang="it-IT"/>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it-IT"/>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FEB3E853-0B1C-4222-8A08-62959782D903}" type="slidenum">
              <a:rPr lang="it-IT" smtClean="0"/>
              <a:t>‹N›</a:t>
            </a:fld>
            <a:endParaRPr lang="it-IT"/>
          </a:p>
        </p:txBody>
      </p:sp>
    </p:spTree>
    <p:extLst>
      <p:ext uri="{BB962C8B-B14F-4D97-AF65-F5344CB8AC3E}">
        <p14:creationId xmlns:p14="http://schemas.microsoft.com/office/powerpoint/2010/main" val="19819487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788F5FEB-2D19-4D32-99A1-4B8516BF6F12}" type="datetimeFigureOut">
              <a:rPr lang="it-IT" smtClean="0"/>
              <a:t>05/08/2026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EB3E853-0B1C-4222-8A08-62959782D903}" type="slidenum">
              <a:rPr lang="it-IT" smtClean="0"/>
              <a:t>‹N›</a:t>
            </a:fld>
            <a:endParaRPr lang="it-IT"/>
          </a:p>
        </p:txBody>
      </p:sp>
    </p:spTree>
    <p:extLst>
      <p:ext uri="{BB962C8B-B14F-4D97-AF65-F5344CB8AC3E}">
        <p14:creationId xmlns:p14="http://schemas.microsoft.com/office/powerpoint/2010/main" val="1710575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788F5FEB-2D19-4D32-99A1-4B8516BF6F12}" type="datetimeFigureOut">
              <a:rPr lang="it-IT" smtClean="0"/>
              <a:t>05/08/2026</a:t>
            </a:fld>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fld id="{FEB3E853-0B1C-4222-8A08-62959782D903}" type="slidenum">
              <a:rPr lang="it-IT" smtClean="0"/>
              <a:t>‹N›</a:t>
            </a:fld>
            <a:endParaRPr lang="it-IT"/>
          </a:p>
        </p:txBody>
      </p:sp>
    </p:spTree>
    <p:extLst>
      <p:ext uri="{BB962C8B-B14F-4D97-AF65-F5344CB8AC3E}">
        <p14:creationId xmlns:p14="http://schemas.microsoft.com/office/powerpoint/2010/main" val="4042713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788F5FEB-2D19-4D32-99A1-4B8516BF6F12}" type="datetimeFigureOut">
              <a:rPr lang="it-IT" smtClean="0"/>
              <a:t>05/08/2026</a:t>
            </a:fld>
            <a:endParaRPr lang="it-IT"/>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it-IT"/>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FEB3E853-0B1C-4222-8A08-62959782D903}" type="slidenum">
              <a:rPr lang="it-IT" smtClean="0"/>
              <a:t>‹N›</a:t>
            </a:fld>
            <a:endParaRPr lang="it-IT"/>
          </a:p>
        </p:txBody>
      </p:sp>
    </p:spTree>
    <p:extLst>
      <p:ext uri="{BB962C8B-B14F-4D97-AF65-F5344CB8AC3E}">
        <p14:creationId xmlns:p14="http://schemas.microsoft.com/office/powerpoint/2010/main" val="2950766078"/>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kaggle.com/c/rossmann-store-sale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4C55FC-3AD2-F202-D020-CACB1DCA702B}"/>
              </a:ext>
            </a:extLst>
          </p:cNvPr>
          <p:cNvSpPr>
            <a:spLocks noGrp="1"/>
          </p:cNvSpPr>
          <p:nvPr>
            <p:ph type="ctrTitle"/>
          </p:nvPr>
        </p:nvSpPr>
        <p:spPr/>
        <p:txBody>
          <a:bodyPr/>
          <a:lstStyle/>
          <a:p>
            <a:r>
              <a:rPr lang="it-IT" dirty="0"/>
              <a:t>Innovazione con l’IA</a:t>
            </a:r>
          </a:p>
        </p:txBody>
      </p:sp>
      <p:sp>
        <p:nvSpPr>
          <p:cNvPr id="3" name="Sottotitolo 2">
            <a:extLst>
              <a:ext uri="{FF2B5EF4-FFF2-40B4-BE49-F238E27FC236}">
                <a16:creationId xmlns:a16="http://schemas.microsoft.com/office/drawing/2014/main" id="{38E0BE37-8FDE-F041-EDCD-9A60C612ADE7}"/>
              </a:ext>
            </a:extLst>
          </p:cNvPr>
          <p:cNvSpPr>
            <a:spLocks noGrp="1"/>
          </p:cNvSpPr>
          <p:nvPr>
            <p:ph type="subTitle" idx="1"/>
          </p:nvPr>
        </p:nvSpPr>
        <p:spPr/>
        <p:txBody>
          <a:bodyPr/>
          <a:lstStyle/>
          <a:p>
            <a:r>
              <a:rPr lang="it-IT" dirty="0"/>
              <a:t>Analisi predittiva</a:t>
            </a:r>
          </a:p>
        </p:txBody>
      </p:sp>
    </p:spTree>
    <p:extLst>
      <p:ext uri="{BB962C8B-B14F-4D97-AF65-F5344CB8AC3E}">
        <p14:creationId xmlns:p14="http://schemas.microsoft.com/office/powerpoint/2010/main" val="848434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5E538A-7A1F-2B5F-C501-0EBB7EB29C9D}"/>
              </a:ext>
            </a:extLst>
          </p:cNvPr>
          <p:cNvSpPr>
            <a:spLocks noGrp="1"/>
          </p:cNvSpPr>
          <p:nvPr>
            <p:ph type="title"/>
          </p:nvPr>
        </p:nvSpPr>
        <p:spPr/>
        <p:txBody>
          <a:bodyPr/>
          <a:lstStyle/>
          <a:p>
            <a:r>
              <a:rPr lang="it-IT" b="1" dirty="0"/>
              <a:t>Cos’è l’Intelligenza Artificiale</a:t>
            </a:r>
            <a:endParaRPr lang="it-IT" dirty="0"/>
          </a:p>
        </p:txBody>
      </p:sp>
      <p:sp>
        <p:nvSpPr>
          <p:cNvPr id="3" name="Segnaposto contenuto 2">
            <a:extLst>
              <a:ext uri="{FF2B5EF4-FFF2-40B4-BE49-F238E27FC236}">
                <a16:creationId xmlns:a16="http://schemas.microsoft.com/office/drawing/2014/main" id="{A3562164-9867-5F55-463D-62716AA2399D}"/>
              </a:ext>
            </a:extLst>
          </p:cNvPr>
          <p:cNvSpPr>
            <a:spLocks noGrp="1"/>
          </p:cNvSpPr>
          <p:nvPr>
            <p:ph idx="1"/>
          </p:nvPr>
        </p:nvSpPr>
        <p:spPr>
          <a:xfrm>
            <a:off x="838200" y="1825625"/>
            <a:ext cx="5257800" cy="4351338"/>
          </a:xfrm>
        </p:spPr>
        <p:txBody>
          <a:bodyPr>
            <a:normAutofit lnSpcReduction="10000"/>
          </a:bodyPr>
          <a:lstStyle/>
          <a:p>
            <a:r>
              <a:rPr lang="it-IT" dirty="0"/>
              <a:t>L’</a:t>
            </a:r>
            <a:r>
              <a:rPr lang="it-IT" b="1" dirty="0"/>
              <a:t>Intelligenza Artificiale (IA)</a:t>
            </a:r>
            <a:r>
              <a:rPr lang="it-IT" dirty="0"/>
              <a:t> è un campo dell’informatica che mira a creare sistemi in grado di </a:t>
            </a:r>
            <a:r>
              <a:rPr lang="it-IT" b="1" dirty="0"/>
              <a:t>simulare comportamenti intelligenti.</a:t>
            </a:r>
            <a:r>
              <a:rPr lang="it-IT" dirty="0"/>
              <a:t> </a:t>
            </a:r>
          </a:p>
          <a:p>
            <a:r>
              <a:rPr lang="it-IT" dirty="0"/>
              <a:t>Il concetto è volutamente vago, ma possiamo identificare come </a:t>
            </a:r>
            <a:r>
              <a:rPr lang="it-IT" b="1" dirty="0"/>
              <a:t>comportamenti intelligenti</a:t>
            </a:r>
            <a:r>
              <a:rPr lang="it-IT" dirty="0"/>
              <a:t>:</a:t>
            </a:r>
          </a:p>
          <a:p>
            <a:pPr lvl="1"/>
            <a:r>
              <a:rPr lang="it-IT" dirty="0"/>
              <a:t>l’apprendimento</a:t>
            </a:r>
          </a:p>
          <a:p>
            <a:pPr lvl="1"/>
            <a:r>
              <a:rPr lang="it-IT" dirty="0"/>
              <a:t>il processo decisionale</a:t>
            </a:r>
          </a:p>
          <a:p>
            <a:pPr lvl="1"/>
            <a:r>
              <a:rPr lang="it-IT" dirty="0"/>
              <a:t>Ragionamento</a:t>
            </a:r>
          </a:p>
          <a:p>
            <a:r>
              <a:rPr lang="it-IT" dirty="0"/>
              <a:t>Il fine è quello di per supportare umani e aziende.</a:t>
            </a:r>
          </a:p>
          <a:p>
            <a:endParaRPr lang="it-IT" dirty="0"/>
          </a:p>
        </p:txBody>
      </p:sp>
      <p:pic>
        <p:nvPicPr>
          <p:cNvPr id="4" name="Immagine 3">
            <a:extLst>
              <a:ext uri="{FF2B5EF4-FFF2-40B4-BE49-F238E27FC236}">
                <a16:creationId xmlns:a16="http://schemas.microsoft.com/office/drawing/2014/main" id="{CDBA4E1E-6AC0-6248-08AB-6B75649DCA25}"/>
              </a:ext>
            </a:extLst>
          </p:cNvPr>
          <p:cNvPicPr>
            <a:picLocks noChangeAspect="1"/>
          </p:cNvPicPr>
          <p:nvPr/>
        </p:nvPicPr>
        <p:blipFill>
          <a:blip r:embed="rId2"/>
          <a:stretch>
            <a:fillRect/>
          </a:stretch>
        </p:blipFill>
        <p:spPr>
          <a:xfrm>
            <a:off x="6447804" y="2369699"/>
            <a:ext cx="4905996" cy="2759623"/>
          </a:xfrm>
          <a:prstGeom prst="rect">
            <a:avLst/>
          </a:prstGeom>
        </p:spPr>
      </p:pic>
    </p:spTree>
    <p:extLst>
      <p:ext uri="{BB962C8B-B14F-4D97-AF65-F5344CB8AC3E}">
        <p14:creationId xmlns:p14="http://schemas.microsoft.com/office/powerpoint/2010/main" val="2115449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68C481-7A00-E561-816A-7C12648FF495}"/>
              </a:ext>
            </a:extLst>
          </p:cNvPr>
          <p:cNvSpPr>
            <a:spLocks noGrp="1"/>
          </p:cNvSpPr>
          <p:nvPr>
            <p:ph type="title"/>
          </p:nvPr>
        </p:nvSpPr>
        <p:spPr/>
        <p:txBody>
          <a:bodyPr/>
          <a:lstStyle/>
          <a:p>
            <a:r>
              <a:rPr lang="it-IT" b="1" dirty="0"/>
              <a:t>Ruolo dell’IA nel processo decisionale</a:t>
            </a:r>
            <a:endParaRPr lang="it-IT" dirty="0"/>
          </a:p>
        </p:txBody>
      </p:sp>
      <p:sp>
        <p:nvSpPr>
          <p:cNvPr id="3" name="Segnaposto contenuto 2">
            <a:extLst>
              <a:ext uri="{FF2B5EF4-FFF2-40B4-BE49-F238E27FC236}">
                <a16:creationId xmlns:a16="http://schemas.microsoft.com/office/drawing/2014/main" id="{0E876EB3-B364-EA6F-4F60-2FB3A9EB97AF}"/>
              </a:ext>
            </a:extLst>
          </p:cNvPr>
          <p:cNvSpPr>
            <a:spLocks noGrp="1"/>
          </p:cNvSpPr>
          <p:nvPr>
            <p:ph idx="1"/>
          </p:nvPr>
        </p:nvSpPr>
        <p:spPr/>
        <p:txBody>
          <a:bodyPr>
            <a:normAutofit/>
          </a:bodyPr>
          <a:lstStyle/>
          <a:p>
            <a:pPr lvl="0"/>
            <a:r>
              <a:rPr lang="it-IT" b="1" dirty="0"/>
              <a:t>Supporto decisionale</a:t>
            </a:r>
            <a:r>
              <a:rPr lang="it-IT" dirty="0"/>
              <a:t>: L’IA analizza dati complessi e fornisce insights per decisioni più rapide e accurate.</a:t>
            </a:r>
          </a:p>
          <a:p>
            <a:pPr lvl="0"/>
            <a:r>
              <a:rPr lang="it-IT" b="1" dirty="0"/>
              <a:t>Automatizzazione</a:t>
            </a:r>
            <a:r>
              <a:rPr lang="it-IT" dirty="0"/>
              <a:t>: Riduce l’intervento umano in compiti ripetitivi o ad alto rischio.</a:t>
            </a:r>
          </a:p>
          <a:p>
            <a:pPr lvl="0"/>
            <a:r>
              <a:rPr lang="it-IT" b="1" dirty="0"/>
              <a:t>Predittività</a:t>
            </a:r>
            <a:r>
              <a:rPr lang="it-IT" dirty="0"/>
              <a:t>: Utilizza algoritmi per prevedere scenari futuri (es. tendenze di mercato, rischi).</a:t>
            </a:r>
          </a:p>
          <a:p>
            <a:pPr lvl="0"/>
            <a:r>
              <a:rPr lang="it-IT" b="1" dirty="0"/>
              <a:t>Personalizzazione</a:t>
            </a:r>
            <a:r>
              <a:rPr lang="it-IT" dirty="0"/>
              <a:t>: Adatta soluzioni in base a esigenze specifiche (es. raccomandazioni per clienti).</a:t>
            </a:r>
          </a:p>
          <a:p>
            <a:pPr lvl="0"/>
            <a:r>
              <a:rPr lang="it-IT" b="1" dirty="0"/>
              <a:t>Ottimizzazione</a:t>
            </a:r>
            <a:r>
              <a:rPr lang="it-IT" dirty="0"/>
              <a:t>: Migliora processi aziendali (es. gestione delle scorte, logistica).</a:t>
            </a:r>
          </a:p>
          <a:p>
            <a:endParaRPr lang="it-IT" dirty="0"/>
          </a:p>
        </p:txBody>
      </p:sp>
    </p:spTree>
    <p:extLst>
      <p:ext uri="{BB962C8B-B14F-4D97-AF65-F5344CB8AC3E}">
        <p14:creationId xmlns:p14="http://schemas.microsoft.com/office/powerpoint/2010/main" val="3838751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CFF477F5-9195-A5FE-DA63-EF74B9C6CDEA}"/>
              </a:ext>
            </a:extLst>
          </p:cNvPr>
          <p:cNvPicPr>
            <a:picLocks noChangeAspect="1"/>
          </p:cNvPicPr>
          <p:nvPr/>
        </p:nvPicPr>
        <p:blipFill>
          <a:blip r:embed="rId2"/>
          <a:stretch>
            <a:fillRect/>
          </a:stretch>
        </p:blipFill>
        <p:spPr>
          <a:xfrm>
            <a:off x="2764810" y="857839"/>
            <a:ext cx="6659237" cy="5147035"/>
          </a:xfrm>
          <a:prstGeom prst="rect">
            <a:avLst/>
          </a:prstGeom>
        </p:spPr>
      </p:pic>
    </p:spTree>
    <p:extLst>
      <p:ext uri="{BB962C8B-B14F-4D97-AF65-F5344CB8AC3E}">
        <p14:creationId xmlns:p14="http://schemas.microsoft.com/office/powerpoint/2010/main" val="2590125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979E5A8-EB63-CE3F-CB2D-EE2ED943521B}"/>
              </a:ext>
            </a:extLst>
          </p:cNvPr>
          <p:cNvSpPr>
            <a:spLocks noGrp="1"/>
          </p:cNvSpPr>
          <p:nvPr>
            <p:ph type="title"/>
          </p:nvPr>
        </p:nvSpPr>
        <p:spPr/>
        <p:txBody>
          <a:bodyPr/>
          <a:lstStyle/>
          <a:p>
            <a:r>
              <a:rPr lang="it-IT" b="1" dirty="0"/>
              <a:t>Un po’ di storia…</a:t>
            </a:r>
          </a:p>
        </p:txBody>
      </p:sp>
      <p:sp>
        <p:nvSpPr>
          <p:cNvPr id="3" name="Segnaposto contenuto 2">
            <a:extLst>
              <a:ext uri="{FF2B5EF4-FFF2-40B4-BE49-F238E27FC236}">
                <a16:creationId xmlns:a16="http://schemas.microsoft.com/office/drawing/2014/main" id="{E43D133E-A464-08D3-A459-1899553F427F}"/>
              </a:ext>
            </a:extLst>
          </p:cNvPr>
          <p:cNvSpPr>
            <a:spLocks noGrp="1"/>
          </p:cNvSpPr>
          <p:nvPr>
            <p:ph idx="1"/>
          </p:nvPr>
        </p:nvSpPr>
        <p:spPr/>
        <p:txBody>
          <a:bodyPr>
            <a:normAutofit fontScale="92500"/>
          </a:bodyPr>
          <a:lstStyle/>
          <a:p>
            <a:pPr lvl="0"/>
            <a:r>
              <a:rPr lang="it-IT" b="1" dirty="0"/>
              <a:t>1943</a:t>
            </a:r>
            <a:r>
              <a:rPr lang="it-IT" dirty="0"/>
              <a:t>: McCulloch e Pitts propongono il primo modello matematico di neurone artificiale.</a:t>
            </a:r>
          </a:p>
          <a:p>
            <a:pPr lvl="0"/>
            <a:r>
              <a:rPr lang="it-IT" b="1" dirty="0"/>
              <a:t>1956</a:t>
            </a:r>
            <a:r>
              <a:rPr lang="it-IT" dirty="0"/>
              <a:t>: John McCarthy conia il termine "Intelligenza Artificiale" durante la conferenza del Dartmouth College.</a:t>
            </a:r>
          </a:p>
          <a:p>
            <a:pPr lvl="0"/>
            <a:r>
              <a:rPr lang="it-IT" b="1" dirty="0"/>
              <a:t>1958</a:t>
            </a:r>
            <a:r>
              <a:rPr lang="it-IT" dirty="0"/>
              <a:t>: Frank Rosenblatt costruisce il "</a:t>
            </a:r>
            <a:r>
              <a:rPr lang="it-IT" dirty="0" err="1"/>
              <a:t>Percettrone</a:t>
            </a:r>
            <a:r>
              <a:rPr lang="it-IT" dirty="0"/>
              <a:t>", il primo modello di rete neurale artificiale con capacità di apprendimento.</a:t>
            </a:r>
          </a:p>
          <a:p>
            <a:pPr lvl="0"/>
            <a:r>
              <a:rPr lang="it-IT" b="1" dirty="0"/>
              <a:t>1976</a:t>
            </a:r>
            <a:r>
              <a:rPr lang="it-IT" dirty="0"/>
              <a:t>: Vengono sviluppati i primi "sistemi esperti", come MYCIN per la diagnosi di infezioni.</a:t>
            </a:r>
          </a:p>
          <a:p>
            <a:pPr lvl="0"/>
            <a:r>
              <a:rPr lang="it-IT" b="1" dirty="0"/>
              <a:t>1986</a:t>
            </a:r>
            <a:r>
              <a:rPr lang="it-IT" dirty="0"/>
              <a:t>: Viene costruito uno dei primi sistemi a auto a guida autonoma a Monaco.</a:t>
            </a:r>
          </a:p>
          <a:p>
            <a:pPr lvl="0"/>
            <a:r>
              <a:rPr lang="it-IT" b="1" dirty="0"/>
              <a:t>1990</a:t>
            </a:r>
            <a:r>
              <a:rPr lang="it-IT" dirty="0"/>
              <a:t>: DragonDictate viene lanciato come il primo sistema di riconoscimento vocale commercialmente valido al prezzo di 9.000 dollari.</a:t>
            </a:r>
          </a:p>
          <a:p>
            <a:endParaRPr lang="it-IT" dirty="0"/>
          </a:p>
        </p:txBody>
      </p:sp>
    </p:spTree>
    <p:extLst>
      <p:ext uri="{BB962C8B-B14F-4D97-AF65-F5344CB8AC3E}">
        <p14:creationId xmlns:p14="http://schemas.microsoft.com/office/powerpoint/2010/main" val="984631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60E4E7-C0E1-E229-0A3B-C6788BCA983D}"/>
              </a:ext>
            </a:extLst>
          </p:cNvPr>
          <p:cNvSpPr>
            <a:spLocks noGrp="1"/>
          </p:cNvSpPr>
          <p:nvPr>
            <p:ph type="title"/>
          </p:nvPr>
        </p:nvSpPr>
        <p:spPr/>
        <p:txBody>
          <a:bodyPr/>
          <a:lstStyle/>
          <a:p>
            <a:r>
              <a:rPr lang="it-IT" b="1" dirty="0"/>
              <a:t>La storia recente</a:t>
            </a:r>
          </a:p>
        </p:txBody>
      </p:sp>
      <p:sp>
        <p:nvSpPr>
          <p:cNvPr id="3" name="Segnaposto contenuto 2">
            <a:extLst>
              <a:ext uri="{FF2B5EF4-FFF2-40B4-BE49-F238E27FC236}">
                <a16:creationId xmlns:a16="http://schemas.microsoft.com/office/drawing/2014/main" id="{7C17634A-8D9C-4179-EA9A-61D79820FD5D}"/>
              </a:ext>
            </a:extLst>
          </p:cNvPr>
          <p:cNvSpPr>
            <a:spLocks noGrp="1"/>
          </p:cNvSpPr>
          <p:nvPr>
            <p:ph idx="1"/>
          </p:nvPr>
        </p:nvSpPr>
        <p:spPr/>
        <p:txBody>
          <a:bodyPr>
            <a:normAutofit fontScale="92500"/>
          </a:bodyPr>
          <a:lstStyle/>
          <a:p>
            <a:pPr lvl="0"/>
            <a:r>
              <a:rPr lang="it-IT" b="1" dirty="0"/>
              <a:t>2020 - Il COVID e l’invenzione dell’</a:t>
            </a:r>
            <a:r>
              <a:rPr lang="it-IT" b="1" dirty="0" err="1"/>
              <a:t>autoattenzione</a:t>
            </a:r>
            <a:r>
              <a:rPr lang="it-IT" dirty="0"/>
              <a:t>:</a:t>
            </a:r>
          </a:p>
          <a:p>
            <a:pPr lvl="1"/>
            <a:r>
              <a:rPr lang="it-IT" b="1" dirty="0"/>
              <a:t>2020</a:t>
            </a:r>
            <a:r>
              <a:rPr lang="it-IT" dirty="0"/>
              <a:t>: L’</a:t>
            </a:r>
            <a:r>
              <a:rPr lang="it-IT" dirty="0" err="1"/>
              <a:t>autoattenzione</a:t>
            </a:r>
            <a:r>
              <a:rPr lang="it-IT" dirty="0"/>
              <a:t> (</a:t>
            </a:r>
            <a:r>
              <a:rPr lang="it-IT" i="1" dirty="0"/>
              <a:t>self-</a:t>
            </a:r>
            <a:r>
              <a:rPr lang="it-IT" i="1" dirty="0" err="1"/>
              <a:t>attention</a:t>
            </a:r>
            <a:r>
              <a:rPr lang="it-IT" dirty="0"/>
              <a:t>) nei modelli di trasformazione (es. </a:t>
            </a:r>
            <a:r>
              <a:rPr lang="it-IT" b="1" dirty="0"/>
              <a:t>Transformer</a:t>
            </a:r>
            <a:r>
              <a:rPr lang="it-IT" dirty="0"/>
              <a:t>) permette di elaborare sequenze di dati (es. testo, immagini) in modo parallelo ed efficiente.</a:t>
            </a:r>
          </a:p>
          <a:p>
            <a:pPr lvl="1"/>
            <a:r>
              <a:rPr lang="it-IT" b="1" dirty="0"/>
              <a:t>Pandemia da COVID-19</a:t>
            </a:r>
            <a:r>
              <a:rPr lang="it-IT" dirty="0"/>
              <a:t>: L’IA viene usata per </a:t>
            </a:r>
            <a:r>
              <a:rPr lang="it-IT" b="1" dirty="0"/>
              <a:t>tracciare contagi</a:t>
            </a:r>
            <a:r>
              <a:rPr lang="it-IT" dirty="0"/>
              <a:t>, ottimizzare catene di approvvigionamento e accelerare la ricerca farmaceutica.</a:t>
            </a:r>
          </a:p>
          <a:p>
            <a:pPr lvl="0"/>
            <a:r>
              <a:rPr lang="it-IT" b="1" dirty="0"/>
              <a:t>2023 e l’hype di ChatGPT</a:t>
            </a:r>
            <a:r>
              <a:rPr lang="it-IT" dirty="0"/>
              <a:t>:</a:t>
            </a:r>
          </a:p>
          <a:p>
            <a:pPr lvl="1"/>
            <a:r>
              <a:rPr lang="it-IT" b="1" dirty="0"/>
              <a:t>Novembre 2022</a:t>
            </a:r>
            <a:r>
              <a:rPr lang="it-IT" dirty="0"/>
              <a:t>: ChatGPT (OpenAI) diventa virale per la sua capacità di generare testo simile a quello umano.</a:t>
            </a:r>
          </a:p>
          <a:p>
            <a:pPr lvl="1"/>
            <a:r>
              <a:rPr lang="it-IT" b="1" dirty="0"/>
              <a:t>2023</a:t>
            </a:r>
            <a:r>
              <a:rPr lang="it-IT" dirty="0"/>
              <a:t>: Boom di applicazioni basate su </a:t>
            </a:r>
            <a:r>
              <a:rPr lang="it-IT" b="1" dirty="0"/>
              <a:t>LLM (Large Language Models)</a:t>
            </a:r>
            <a:r>
              <a:rPr lang="it-IT" dirty="0"/>
              <a:t>, che democratizzano l’accesso all’IA generativa in settori come marketing, sanità e istruzione.</a:t>
            </a:r>
          </a:p>
          <a:p>
            <a:endParaRPr lang="it-IT" dirty="0"/>
          </a:p>
        </p:txBody>
      </p:sp>
    </p:spTree>
    <p:extLst>
      <p:ext uri="{BB962C8B-B14F-4D97-AF65-F5344CB8AC3E}">
        <p14:creationId xmlns:p14="http://schemas.microsoft.com/office/powerpoint/2010/main" val="1018616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C6EE0F1-7B9E-4E6A-026B-E99F07AD4644}"/>
              </a:ext>
            </a:extLst>
          </p:cNvPr>
          <p:cNvSpPr>
            <a:spLocks noGrp="1"/>
          </p:cNvSpPr>
          <p:nvPr>
            <p:ph type="title"/>
          </p:nvPr>
        </p:nvSpPr>
        <p:spPr/>
        <p:txBody>
          <a:bodyPr/>
          <a:lstStyle/>
          <a:p>
            <a:r>
              <a:rPr lang="it-IT" b="1" dirty="0"/>
              <a:t>L’Importanza del Machine Learning</a:t>
            </a:r>
            <a:endParaRPr lang="it-IT" dirty="0"/>
          </a:p>
        </p:txBody>
      </p:sp>
      <p:sp>
        <p:nvSpPr>
          <p:cNvPr id="3" name="Segnaposto contenuto 2">
            <a:extLst>
              <a:ext uri="{FF2B5EF4-FFF2-40B4-BE49-F238E27FC236}">
                <a16:creationId xmlns:a16="http://schemas.microsoft.com/office/drawing/2014/main" id="{75234EE7-A8FC-1385-5980-AC78D7BB2702}"/>
              </a:ext>
            </a:extLst>
          </p:cNvPr>
          <p:cNvSpPr>
            <a:spLocks noGrp="1"/>
          </p:cNvSpPr>
          <p:nvPr>
            <p:ph idx="1"/>
          </p:nvPr>
        </p:nvSpPr>
        <p:spPr/>
        <p:txBody>
          <a:bodyPr>
            <a:normAutofit lnSpcReduction="10000"/>
          </a:bodyPr>
          <a:lstStyle/>
          <a:p>
            <a:r>
              <a:rPr lang="it-IT" dirty="0"/>
              <a:t>Il </a:t>
            </a:r>
            <a:r>
              <a:rPr lang="it-IT" b="1" dirty="0"/>
              <a:t>Machine Learning (ML)</a:t>
            </a:r>
            <a:r>
              <a:rPr lang="it-IT" dirty="0"/>
              <a:t> è una </a:t>
            </a:r>
            <a:r>
              <a:rPr lang="it-IT" dirty="0" err="1"/>
              <a:t>sottodisciplina</a:t>
            </a:r>
            <a:r>
              <a:rPr lang="it-IT" dirty="0"/>
              <a:t> dell’IA che permette ai sistemi di </a:t>
            </a:r>
            <a:r>
              <a:rPr lang="it-IT" b="1" dirty="0"/>
              <a:t>apprendere dai dati</a:t>
            </a:r>
            <a:r>
              <a:rPr lang="it-IT" dirty="0"/>
              <a:t> senza essere esplicitamente programmati, migliorando le proprie prestazioni nel tempo.</a:t>
            </a:r>
          </a:p>
          <a:p>
            <a:pPr lvl="1"/>
            <a:r>
              <a:rPr lang="it-IT" b="1" dirty="0"/>
              <a:t>Adattabilità</a:t>
            </a:r>
            <a:r>
              <a:rPr lang="it-IT" dirty="0"/>
              <a:t>: Si adatta a nuovi dati e scenari senza bisogno di aggiornamenti manuali.</a:t>
            </a:r>
          </a:p>
          <a:p>
            <a:pPr lvl="1"/>
            <a:r>
              <a:rPr lang="it-IT" b="1" dirty="0"/>
              <a:t>Scalabilità</a:t>
            </a:r>
            <a:r>
              <a:rPr lang="it-IT" dirty="0"/>
              <a:t>: Può analizzare </a:t>
            </a:r>
            <a:r>
              <a:rPr lang="it-IT" b="1" dirty="0"/>
              <a:t>grandi volumi di dati</a:t>
            </a:r>
            <a:r>
              <a:rPr lang="it-IT" dirty="0"/>
              <a:t> (big data) in modo efficiente.</a:t>
            </a:r>
          </a:p>
          <a:p>
            <a:pPr lvl="1"/>
            <a:r>
              <a:rPr lang="it-IT" b="1" dirty="0"/>
              <a:t>Automazione intelligente</a:t>
            </a:r>
            <a:r>
              <a:rPr lang="it-IT" dirty="0"/>
              <a:t>: Riduce l’errore umano e velocizza processi complessi (es. diagnosi mediche, rilevamento frodi).</a:t>
            </a:r>
          </a:p>
          <a:p>
            <a:pPr lvl="1"/>
            <a:r>
              <a:rPr lang="it-IT" b="1" dirty="0"/>
              <a:t>Innovazione</a:t>
            </a:r>
            <a:r>
              <a:rPr lang="it-IT" dirty="0"/>
              <a:t>: Abilita nuove applicazioni come </a:t>
            </a:r>
            <a:r>
              <a:rPr lang="it-IT" b="1" dirty="0"/>
              <a:t>veicoli autonomi</a:t>
            </a:r>
            <a:r>
              <a:rPr lang="it-IT" dirty="0"/>
              <a:t>, </a:t>
            </a:r>
            <a:r>
              <a:rPr lang="it-IT" b="1" dirty="0"/>
              <a:t>assistenti vocali</a:t>
            </a:r>
            <a:r>
              <a:rPr lang="it-IT" dirty="0"/>
              <a:t> e </a:t>
            </a:r>
            <a:r>
              <a:rPr lang="it-IT" b="1" dirty="0"/>
              <a:t>sistemi di raccomandazione</a:t>
            </a:r>
            <a:r>
              <a:rPr lang="it-IT" dirty="0"/>
              <a:t>.</a:t>
            </a:r>
          </a:p>
          <a:p>
            <a:pPr lvl="1"/>
            <a:r>
              <a:rPr lang="it-IT" b="1" dirty="0"/>
              <a:t>Competitività aziendale</a:t>
            </a:r>
            <a:r>
              <a:rPr lang="it-IT" dirty="0"/>
              <a:t>: Le aziende che lo adottano ottengono un </a:t>
            </a:r>
            <a:r>
              <a:rPr lang="it-IT" b="1" dirty="0"/>
              <a:t>vantaggio strategico</a:t>
            </a:r>
            <a:r>
              <a:rPr lang="it-IT" dirty="0"/>
              <a:t> (es. ottimizzazione dei costi, personalizzazione dell’offerta).</a:t>
            </a:r>
          </a:p>
          <a:p>
            <a:endParaRPr lang="it-IT" dirty="0"/>
          </a:p>
        </p:txBody>
      </p:sp>
    </p:spTree>
    <p:extLst>
      <p:ext uri="{BB962C8B-B14F-4D97-AF65-F5344CB8AC3E}">
        <p14:creationId xmlns:p14="http://schemas.microsoft.com/office/powerpoint/2010/main" val="2387316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A56942C-304F-1CD4-966F-A1942571A3C2}"/>
              </a:ext>
            </a:extLst>
          </p:cNvPr>
          <p:cNvSpPr>
            <a:spLocks noGrp="1"/>
          </p:cNvSpPr>
          <p:nvPr>
            <p:ph type="title"/>
          </p:nvPr>
        </p:nvSpPr>
        <p:spPr/>
        <p:txBody>
          <a:bodyPr/>
          <a:lstStyle/>
          <a:p>
            <a:r>
              <a:rPr lang="it-IT" b="1" dirty="0"/>
              <a:t>Come funziona il cervello umano?</a:t>
            </a:r>
          </a:p>
        </p:txBody>
      </p:sp>
      <p:sp>
        <p:nvSpPr>
          <p:cNvPr id="3" name="Segnaposto contenuto 2">
            <a:extLst>
              <a:ext uri="{FF2B5EF4-FFF2-40B4-BE49-F238E27FC236}">
                <a16:creationId xmlns:a16="http://schemas.microsoft.com/office/drawing/2014/main" id="{F7738364-A799-A244-9089-5E0ED724B3A8}"/>
              </a:ext>
            </a:extLst>
          </p:cNvPr>
          <p:cNvSpPr>
            <a:spLocks noGrp="1"/>
          </p:cNvSpPr>
          <p:nvPr>
            <p:ph idx="1"/>
          </p:nvPr>
        </p:nvSpPr>
        <p:spPr>
          <a:xfrm>
            <a:off x="839832" y="1939762"/>
            <a:ext cx="6709368" cy="4351338"/>
          </a:xfrm>
        </p:spPr>
        <p:txBody>
          <a:bodyPr>
            <a:normAutofit fontScale="92500"/>
          </a:bodyPr>
          <a:lstStyle/>
          <a:p>
            <a:r>
              <a:rPr lang="it-IT" dirty="0"/>
              <a:t>i 4 modi fondamentali in cui anche noi umani elaboriamo le informazioni per prendere decisioni:</a:t>
            </a:r>
          </a:p>
          <a:p>
            <a:pPr lvl="1"/>
            <a:r>
              <a:rPr lang="it-IT" b="1" dirty="0"/>
              <a:t>Classificazione:</a:t>
            </a:r>
            <a:r>
              <a:rPr lang="it-IT" dirty="0"/>
              <a:t> Saper distinguere le cose (es. </a:t>
            </a:r>
            <a:r>
              <a:rPr lang="it-IT" i="1" dirty="0"/>
              <a:t>«Questo componente è tra quelli a rischio oppure no?»</a:t>
            </a:r>
            <a:r>
              <a:rPr lang="it-IT" dirty="0"/>
              <a:t>).</a:t>
            </a:r>
          </a:p>
          <a:p>
            <a:pPr lvl="1"/>
            <a:r>
              <a:rPr lang="it-IT" b="1" dirty="0"/>
              <a:t>Regressione:</a:t>
            </a:r>
            <a:r>
              <a:rPr lang="it-IT" dirty="0"/>
              <a:t> Saper fare previsioni quantitative (es. </a:t>
            </a:r>
            <a:r>
              <a:rPr lang="it-IT" i="1" dirty="0"/>
              <a:t>«Quanto tempo ci metterò ad arrivare a destinazione se vado a questa velocità?»</a:t>
            </a:r>
            <a:r>
              <a:rPr lang="it-IT" dirty="0"/>
              <a:t>).</a:t>
            </a:r>
          </a:p>
          <a:p>
            <a:pPr lvl="1"/>
            <a:r>
              <a:rPr lang="it-IT" b="1" dirty="0"/>
              <a:t>Clustering:</a:t>
            </a:r>
            <a:r>
              <a:rPr lang="it-IT" dirty="0"/>
              <a:t> Saper raggruppare dati (es. «</a:t>
            </a:r>
            <a:r>
              <a:rPr lang="it-IT" i="1" dirty="0"/>
              <a:t>Metto insieme dei giocatori di calcio in base alle loro caratteristiche»</a:t>
            </a:r>
            <a:r>
              <a:rPr lang="it-IT" dirty="0"/>
              <a:t>).</a:t>
            </a:r>
          </a:p>
          <a:p>
            <a:pPr lvl="1"/>
            <a:r>
              <a:rPr lang="it-IT" b="1" dirty="0"/>
              <a:t>Riduzione della dimensionalità:</a:t>
            </a:r>
            <a:r>
              <a:rPr lang="it-IT" dirty="0"/>
              <a:t> Trovare le caratteristiche importanti (es. </a:t>
            </a:r>
            <a:r>
              <a:rPr lang="it-IT" i="1" dirty="0"/>
              <a:t>«Per fare il preventivo per una ristrutturazione, certe cose sono più importanti di altre»</a:t>
            </a:r>
            <a:r>
              <a:rPr lang="it-IT" dirty="0"/>
              <a:t>).</a:t>
            </a:r>
          </a:p>
        </p:txBody>
      </p:sp>
      <p:pic>
        <p:nvPicPr>
          <p:cNvPr id="4" name="Immagine 3">
            <a:extLst>
              <a:ext uri="{FF2B5EF4-FFF2-40B4-BE49-F238E27FC236}">
                <a16:creationId xmlns:a16="http://schemas.microsoft.com/office/drawing/2014/main" id="{7EBEA970-9E7D-B231-1F91-141ECF5B2119}"/>
              </a:ext>
            </a:extLst>
          </p:cNvPr>
          <p:cNvPicPr>
            <a:picLocks noChangeAspect="1"/>
          </p:cNvPicPr>
          <p:nvPr/>
        </p:nvPicPr>
        <p:blipFill>
          <a:blip r:embed="rId3"/>
          <a:srcRect l="45189" r="12887"/>
          <a:stretch>
            <a:fillRect/>
          </a:stretch>
        </p:blipFill>
        <p:spPr>
          <a:xfrm>
            <a:off x="8532928" y="2100018"/>
            <a:ext cx="2326554" cy="3688041"/>
          </a:xfrm>
          <a:prstGeom prst="rect">
            <a:avLst/>
          </a:prstGeom>
        </p:spPr>
      </p:pic>
    </p:spTree>
    <p:extLst>
      <p:ext uri="{BB962C8B-B14F-4D97-AF65-F5344CB8AC3E}">
        <p14:creationId xmlns:p14="http://schemas.microsoft.com/office/powerpoint/2010/main" val="2225405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dirty="0"/>
              <a:t>Regressione</a:t>
            </a:r>
          </a:p>
        </p:txBody>
      </p:sp>
      <p:sp>
        <p:nvSpPr>
          <p:cNvPr id="3" name="Segnaposto contenuto 2"/>
          <p:cNvSpPr>
            <a:spLocks noGrp="1"/>
          </p:cNvSpPr>
          <p:nvPr>
            <p:ph idx="1"/>
          </p:nvPr>
        </p:nvSpPr>
        <p:spPr>
          <a:xfrm>
            <a:off x="659877" y="1690692"/>
            <a:ext cx="5869758" cy="3943579"/>
          </a:xfrm>
        </p:spPr>
        <p:txBody>
          <a:bodyPr>
            <a:normAutofit fontScale="85000" lnSpcReduction="20000"/>
          </a:bodyPr>
          <a:lstStyle/>
          <a:p>
            <a:pPr>
              <a:lnSpc>
                <a:spcPct val="120000"/>
              </a:lnSpc>
            </a:pPr>
            <a:r>
              <a:rPr lang="it-IT" b="1" dirty="0"/>
              <a:t>Cosa vuol dire regressione?</a:t>
            </a:r>
            <a:endParaRPr lang="it-IT" dirty="0"/>
          </a:p>
          <a:p>
            <a:pPr lvl="1">
              <a:lnSpc>
                <a:spcPct val="120000"/>
              </a:lnSpc>
            </a:pPr>
            <a:r>
              <a:rPr lang="it-IT" dirty="0"/>
              <a:t>È un metodo statistico per prevedere un valore numerico (variabile dipendente) basandosi su una o più variabili indipendenti.</a:t>
            </a:r>
          </a:p>
          <a:p>
            <a:pPr lvl="1">
              <a:lnSpc>
                <a:spcPct val="120000"/>
              </a:lnSpc>
            </a:pPr>
            <a:r>
              <a:rPr lang="it-IT" dirty="0"/>
              <a:t>Serve a trovare una relazione tra i dati, rappresentata spesso con una linea di tendenza o una funzione matematica.</a:t>
            </a:r>
          </a:p>
          <a:p>
            <a:pPr>
              <a:lnSpc>
                <a:spcPct val="120000"/>
              </a:lnSpc>
            </a:pPr>
            <a:r>
              <a:rPr lang="it-IT" b="1" dirty="0"/>
              <a:t>x</a:t>
            </a:r>
            <a:r>
              <a:rPr lang="it-IT" dirty="0"/>
              <a:t> e </a:t>
            </a:r>
            <a:r>
              <a:rPr lang="it-IT" b="1" dirty="0"/>
              <a:t>y</a:t>
            </a:r>
            <a:r>
              <a:rPr lang="it-IT" dirty="0"/>
              <a:t> costituiscono il </a:t>
            </a:r>
            <a:r>
              <a:rPr lang="it-IT" b="1" dirty="0"/>
              <a:t>dataset</a:t>
            </a:r>
            <a:r>
              <a:rPr lang="it-IT" dirty="0"/>
              <a:t> più semplice possibile (una colonna di input/feature e una di output/target).</a:t>
            </a:r>
          </a:p>
          <a:p>
            <a:pPr>
              <a:lnSpc>
                <a:spcPct val="120000"/>
              </a:lnSpc>
            </a:pPr>
            <a:r>
              <a:rPr lang="it-IT" dirty="0"/>
              <a:t>Nel nostro esempio: raccogliamo i dati di temperatura e i dati di vendita delle bibite. Che legame vedete???</a:t>
            </a:r>
          </a:p>
          <a:p>
            <a:pPr>
              <a:lnSpc>
                <a:spcPct val="120000"/>
              </a:lnSpc>
            </a:pPr>
            <a:endParaRPr lang="it-IT" dirty="0"/>
          </a:p>
          <a:p>
            <a:endParaRPr lang="it-IT" dirty="0"/>
          </a:p>
        </p:txBody>
      </p:sp>
      <p:graphicFrame>
        <p:nvGraphicFramePr>
          <p:cNvPr id="4" name="Tabella 3">
            <a:extLst>
              <a:ext uri="{FF2B5EF4-FFF2-40B4-BE49-F238E27FC236}">
                <a16:creationId xmlns:a16="http://schemas.microsoft.com/office/drawing/2014/main" id="{AABF747A-C142-DBD5-F85D-29215EBF590A}"/>
              </a:ext>
            </a:extLst>
          </p:cNvPr>
          <p:cNvGraphicFramePr>
            <a:graphicFrameLocks noGrp="1"/>
          </p:cNvGraphicFramePr>
          <p:nvPr/>
        </p:nvGraphicFramePr>
        <p:xfrm>
          <a:off x="7501760" y="499533"/>
          <a:ext cx="3459637" cy="3573780"/>
        </p:xfrm>
        <a:graphic>
          <a:graphicData uri="http://schemas.openxmlformats.org/drawingml/2006/table">
            <a:tbl>
              <a:tblPr firstRow="1">
                <a:tableStyleId>{9D7B26C5-4107-4FEC-AEDC-1716B250A1EF}</a:tableStyleId>
              </a:tblPr>
              <a:tblGrid>
                <a:gridCol w="1907650">
                  <a:extLst>
                    <a:ext uri="{9D8B030D-6E8A-4147-A177-3AD203B41FA5}">
                      <a16:colId xmlns:a16="http://schemas.microsoft.com/office/drawing/2014/main" val="3830325907"/>
                    </a:ext>
                  </a:extLst>
                </a:gridCol>
                <a:gridCol w="1551987">
                  <a:extLst>
                    <a:ext uri="{9D8B030D-6E8A-4147-A177-3AD203B41FA5}">
                      <a16:colId xmlns:a16="http://schemas.microsoft.com/office/drawing/2014/main" val="3061414270"/>
                    </a:ext>
                  </a:extLst>
                </a:gridCol>
              </a:tblGrid>
              <a:tr h="259080">
                <a:tc>
                  <a:txBody>
                    <a:bodyPr/>
                    <a:lstStyle/>
                    <a:p>
                      <a:pPr algn="ctr" fontAlgn="ctr">
                        <a:buNone/>
                      </a:pPr>
                      <a:r>
                        <a:rPr lang="it-IT" sz="1400" u="none" strike="noStrike" dirty="0">
                          <a:effectLst/>
                        </a:rPr>
                        <a:t>Temperatura</a:t>
                      </a:r>
                      <a:endParaRPr lang="it-IT" sz="1400" b="1" i="0" u="none" strike="noStrike" dirty="0">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a:effectLst/>
                        </a:rPr>
                        <a:t>Vendite</a:t>
                      </a:r>
                      <a:endParaRPr lang="it-IT" sz="1400" b="1" i="0" u="none" strike="noStrike">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520389451"/>
                  </a:ext>
                </a:extLst>
              </a:tr>
              <a:tr h="182880">
                <a:tc>
                  <a:txBody>
                    <a:bodyPr/>
                    <a:lstStyle/>
                    <a:p>
                      <a:pPr algn="ctr" fontAlgn="ctr">
                        <a:buNone/>
                      </a:pPr>
                      <a:r>
                        <a:rPr lang="it-IT" sz="1400" u="none" strike="noStrike" dirty="0">
                          <a:effectLst/>
                        </a:rPr>
                        <a:t>25.3</a:t>
                      </a:r>
                      <a:endParaRPr lang="it-IT" sz="1400" b="0" i="0" u="none" strike="noStrike" dirty="0">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a:effectLst/>
                        </a:rPr>
                        <a:t>998.0</a:t>
                      </a:r>
                      <a:endParaRPr lang="it-IT" sz="1400" b="0" i="0" u="none" strike="noStrike">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015999861"/>
                  </a:ext>
                </a:extLst>
              </a:tr>
              <a:tr h="182880">
                <a:tc>
                  <a:txBody>
                    <a:bodyPr/>
                    <a:lstStyle/>
                    <a:p>
                      <a:pPr algn="ctr" fontAlgn="ctr">
                        <a:buNone/>
                      </a:pPr>
                      <a:r>
                        <a:rPr lang="it-IT" sz="1400" u="none" strike="noStrike">
                          <a:effectLst/>
                        </a:rPr>
                        <a:t>25.9</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1562.0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712660366"/>
                  </a:ext>
                </a:extLst>
              </a:tr>
              <a:tr h="182880">
                <a:tc>
                  <a:txBody>
                    <a:bodyPr/>
                    <a:lstStyle/>
                    <a:p>
                      <a:pPr algn="ctr" fontAlgn="ctr">
                        <a:buNone/>
                      </a:pPr>
                      <a:r>
                        <a:rPr lang="it-IT" sz="1400" u="none" strike="noStrike">
                          <a:effectLst/>
                        </a:rPr>
                        <a:t>27.3</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4711.0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764951332"/>
                  </a:ext>
                </a:extLst>
              </a:tr>
              <a:tr h="182880">
                <a:tc>
                  <a:txBody>
                    <a:bodyPr/>
                    <a:lstStyle/>
                    <a:p>
                      <a:pPr algn="ctr" fontAlgn="ctr">
                        <a:buNone/>
                      </a:pPr>
                      <a:r>
                        <a:rPr lang="it-IT" sz="1400" u="none" strike="noStrike">
                          <a:effectLst/>
                        </a:rPr>
                        <a:t>27.3</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30.0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213877881"/>
                  </a:ext>
                </a:extLst>
              </a:tr>
              <a:tr h="182880">
                <a:tc>
                  <a:txBody>
                    <a:bodyPr/>
                    <a:lstStyle/>
                    <a:p>
                      <a:pPr algn="ctr" fontAlgn="ctr">
                        <a:buNone/>
                      </a:pPr>
                      <a:r>
                        <a:rPr lang="it-IT" sz="1400" u="none" strike="noStrike">
                          <a:effectLst/>
                        </a:rPr>
                        <a:t>27.7</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3553.0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854766531"/>
                  </a:ext>
                </a:extLst>
              </a:tr>
              <a:tr h="182880">
                <a:tc>
                  <a:txBody>
                    <a:bodyPr/>
                    <a:lstStyle/>
                    <a:p>
                      <a:pPr algn="ctr" fontAlgn="ctr">
                        <a:buNone/>
                      </a:pPr>
                      <a:r>
                        <a:rPr lang="it-IT" sz="1400" u="none" strike="noStrike">
                          <a:effectLst/>
                        </a:rPr>
                        <a:t>28.2</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4402.0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800956677"/>
                  </a:ext>
                </a:extLst>
              </a:tr>
              <a:tr h="182880">
                <a:tc>
                  <a:txBody>
                    <a:bodyPr/>
                    <a:lstStyle/>
                    <a:p>
                      <a:pPr algn="ctr" fontAlgn="ctr">
                        <a:buNone/>
                      </a:pPr>
                      <a:r>
                        <a:rPr lang="it-IT" sz="1400" u="none" strike="noStrike">
                          <a:effectLst/>
                        </a:rPr>
                        <a:t>30.6</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4651.0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847751346"/>
                  </a:ext>
                </a:extLst>
              </a:tr>
              <a:tr h="182880">
                <a:tc>
                  <a:txBody>
                    <a:bodyPr/>
                    <a:lstStyle/>
                    <a:p>
                      <a:pPr algn="ctr" fontAlgn="ctr">
                        <a:buNone/>
                      </a:pPr>
                      <a:r>
                        <a:rPr lang="it-IT" sz="1400" u="none" strike="noStrike">
                          <a:effectLst/>
                        </a:rPr>
                        <a:t>34.0</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12266.0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883961365"/>
                  </a:ext>
                </a:extLst>
              </a:tr>
              <a:tr h="182880">
                <a:tc>
                  <a:txBody>
                    <a:bodyPr/>
                    <a:lstStyle/>
                    <a:p>
                      <a:pPr algn="ctr" fontAlgn="ctr">
                        <a:buNone/>
                      </a:pPr>
                      <a:r>
                        <a:rPr lang="it-IT" sz="1400" u="none" strike="noStrike">
                          <a:effectLst/>
                        </a:rPr>
                        <a:t>34.0</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9019.0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005515744"/>
                  </a:ext>
                </a:extLst>
              </a:tr>
              <a:tr h="182880">
                <a:tc>
                  <a:txBody>
                    <a:bodyPr/>
                    <a:lstStyle/>
                    <a:p>
                      <a:pPr algn="ctr" fontAlgn="ctr">
                        <a:buNone/>
                      </a:pPr>
                      <a:r>
                        <a:rPr lang="it-IT" sz="1400" u="none" strike="noStrike">
                          <a:effectLst/>
                        </a:rPr>
                        <a:t>35.6</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8975.0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172586134"/>
                  </a:ext>
                </a:extLst>
              </a:tr>
              <a:tr h="182880">
                <a:tc>
                  <a:txBody>
                    <a:bodyPr/>
                    <a:lstStyle/>
                    <a:p>
                      <a:pPr algn="ctr" fontAlgn="ctr">
                        <a:buNone/>
                      </a:pPr>
                      <a:r>
                        <a:rPr lang="it-IT" sz="1400" u="none" strike="noStrike">
                          <a:effectLst/>
                        </a:rPr>
                        <a:t>36.0</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a:effectLst/>
                        </a:rPr>
                        <a:t>8718.0</a:t>
                      </a:r>
                      <a:endParaRPr lang="it-IT" sz="1400" b="0" i="0" u="none" strike="noStrike">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428155376"/>
                  </a:ext>
                </a:extLst>
              </a:tr>
              <a:tr h="182880">
                <a:tc>
                  <a:txBody>
                    <a:bodyPr/>
                    <a:lstStyle/>
                    <a:p>
                      <a:pPr algn="ctr" fontAlgn="ctr">
                        <a:buNone/>
                      </a:pPr>
                      <a:r>
                        <a:rPr lang="it-IT" sz="1400" u="none" strike="noStrike">
                          <a:effectLst/>
                        </a:rPr>
                        <a:t>37.5</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22180.0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467872673"/>
                  </a:ext>
                </a:extLst>
              </a:tr>
              <a:tr h="182880">
                <a:tc>
                  <a:txBody>
                    <a:bodyPr/>
                    <a:lstStyle/>
                    <a:p>
                      <a:pPr algn="ctr" fontAlgn="ctr">
                        <a:buNone/>
                      </a:pPr>
                      <a:r>
                        <a:rPr lang="it-IT" sz="1400" u="none" strike="noStrike">
                          <a:effectLst/>
                        </a:rPr>
                        <a:t>38.0</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16705.0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44853528"/>
                  </a:ext>
                </a:extLst>
              </a:tr>
              <a:tr h="182880">
                <a:tc>
                  <a:txBody>
                    <a:bodyPr/>
                    <a:lstStyle/>
                    <a:p>
                      <a:pPr algn="ctr" fontAlgn="ctr">
                        <a:buNone/>
                      </a:pPr>
                      <a:r>
                        <a:rPr lang="it-IT" sz="1400" u="none" strike="noStrike">
                          <a:effectLst/>
                        </a:rPr>
                        <a:t>39.3</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19350.0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751686903"/>
                  </a:ext>
                </a:extLst>
              </a:tr>
              <a:tr h="182880">
                <a:tc>
                  <a:txBody>
                    <a:bodyPr/>
                    <a:lstStyle/>
                    <a:p>
                      <a:pPr algn="ctr" fontAlgn="ctr">
                        <a:buNone/>
                      </a:pPr>
                      <a:r>
                        <a:rPr lang="it-IT" sz="1400" u="none" strike="noStrike">
                          <a:effectLst/>
                        </a:rPr>
                        <a:t>39.5</a:t>
                      </a:r>
                      <a:endParaRPr lang="it-IT" sz="1400" b="0" i="0" u="none" strike="noStrike">
                        <a:solidFill>
                          <a:srgbClr val="1F1F1F"/>
                        </a:solidFill>
                        <a:effectLst/>
                        <a:latin typeface="Arial" panose="020B0604020202020204" pitchFamily="34" charset="0"/>
                      </a:endParaRPr>
                    </a:p>
                  </a:txBody>
                  <a:tcPr marL="7620" marR="7620" marT="7620" marB="0" anchor="ctr"/>
                </a:tc>
                <a:tc>
                  <a:txBody>
                    <a:bodyPr/>
                    <a:lstStyle/>
                    <a:p>
                      <a:pPr algn="ctr" fontAlgn="ctr">
                        <a:buNone/>
                      </a:pPr>
                      <a:r>
                        <a:rPr lang="it-IT" sz="1400" u="none" strike="noStrike" dirty="0">
                          <a:effectLst/>
                        </a:rPr>
                        <a:t>23112.0</a:t>
                      </a:r>
                      <a:endParaRPr lang="it-IT" sz="1400" b="0" i="0" u="none" strike="noStrike" dirty="0">
                        <a:solidFill>
                          <a:srgbClr val="1F1F1F"/>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997293904"/>
                  </a:ext>
                </a:extLst>
              </a:tr>
            </a:tbl>
          </a:graphicData>
        </a:graphic>
      </p:graphicFrame>
      <p:pic>
        <p:nvPicPr>
          <p:cNvPr id="6" name="Immagine 5">
            <a:extLst>
              <a:ext uri="{FF2B5EF4-FFF2-40B4-BE49-F238E27FC236}">
                <a16:creationId xmlns:a16="http://schemas.microsoft.com/office/drawing/2014/main" id="{0A58D390-8A44-A0FF-7A4A-3BB776247825}"/>
              </a:ext>
            </a:extLst>
          </p:cNvPr>
          <p:cNvPicPr>
            <a:picLocks noChangeAspect="1"/>
          </p:cNvPicPr>
          <p:nvPr/>
        </p:nvPicPr>
        <p:blipFill>
          <a:blip r:embed="rId2"/>
          <a:stretch>
            <a:fillRect/>
          </a:stretch>
        </p:blipFill>
        <p:spPr>
          <a:xfrm>
            <a:off x="7616046" y="4295991"/>
            <a:ext cx="3231063" cy="2337011"/>
          </a:xfrm>
          <a:prstGeom prst="rect">
            <a:avLst/>
          </a:prstGeom>
        </p:spPr>
      </p:pic>
    </p:spTree>
    <p:extLst>
      <p:ext uri="{BB962C8B-B14F-4D97-AF65-F5344CB8AC3E}">
        <p14:creationId xmlns:p14="http://schemas.microsoft.com/office/powerpoint/2010/main" val="1705176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Regressione lineare</a:t>
            </a:r>
          </a:p>
        </p:txBody>
      </p:sp>
      <p:sp>
        <p:nvSpPr>
          <p:cNvPr id="3" name="Segnaposto contenuto 2"/>
          <p:cNvSpPr>
            <a:spLocks noGrp="1"/>
          </p:cNvSpPr>
          <p:nvPr>
            <p:ph idx="1"/>
          </p:nvPr>
        </p:nvSpPr>
        <p:spPr/>
        <p:txBody>
          <a:bodyPr>
            <a:normAutofit lnSpcReduction="10000"/>
          </a:bodyPr>
          <a:lstStyle/>
          <a:p>
            <a:r>
              <a:rPr lang="it-IT" b="1" dirty="0"/>
              <a:t>Definizione</a:t>
            </a:r>
            <a:r>
              <a:rPr lang="it-IT" dirty="0"/>
              <a:t>: La regressione lineare è un metodo statistico utilizzato per modellare la relazione tra una variabile dipendente (Y) e una o più variabili indipendenti (X) attraverso una linea retta.</a:t>
            </a:r>
          </a:p>
          <a:p>
            <a:r>
              <a:rPr lang="it-IT" b="1" dirty="0"/>
              <a:t>Formula</a:t>
            </a:r>
            <a:r>
              <a:rPr lang="it-IT" dirty="0"/>
              <a:t>: </a:t>
            </a:r>
            <a:r>
              <a:rPr lang="it-IT" b="1" i="1" dirty="0"/>
              <a:t>Y= </a:t>
            </a:r>
            <a:r>
              <a:rPr lang="it-IT" b="1" i="1" dirty="0" err="1"/>
              <a:t>mX</a:t>
            </a:r>
            <a:r>
              <a:rPr lang="it-IT" b="1" i="1" dirty="0"/>
              <a:t> + b</a:t>
            </a:r>
          </a:p>
          <a:p>
            <a:pPr lvl="1"/>
            <a:r>
              <a:rPr lang="it-IT" dirty="0"/>
              <a:t>Y è la variabile dipendente</a:t>
            </a:r>
          </a:p>
          <a:p>
            <a:pPr lvl="1"/>
            <a:r>
              <a:rPr lang="it-IT" dirty="0"/>
              <a:t>b è l'intercetta (costante)</a:t>
            </a:r>
          </a:p>
          <a:p>
            <a:pPr lvl="1"/>
            <a:r>
              <a:rPr lang="it-IT" dirty="0"/>
              <a:t>m​ è la pendenza (coefficiente di regressione)</a:t>
            </a:r>
          </a:p>
          <a:p>
            <a:pPr lvl="1"/>
            <a:r>
              <a:rPr lang="it-IT" dirty="0"/>
              <a:t>X è la variabile indipendente</a:t>
            </a:r>
          </a:p>
          <a:p>
            <a:r>
              <a:rPr lang="it-IT" b="1" dirty="0"/>
              <a:t>Obiettivo</a:t>
            </a:r>
            <a:r>
              <a:rPr lang="it-IT" dirty="0"/>
              <a:t>: Predire valori di Y in base ai valori di X minimizzando la somma dei quadrati degli errori (SSR).</a:t>
            </a:r>
          </a:p>
        </p:txBody>
      </p:sp>
    </p:spTree>
    <p:extLst>
      <p:ext uri="{BB962C8B-B14F-4D97-AF65-F5344CB8AC3E}">
        <p14:creationId xmlns:p14="http://schemas.microsoft.com/office/powerpoint/2010/main" val="2453632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7BB137-46A1-FDBD-4ADF-177B45178FC4}"/>
              </a:ext>
            </a:extLst>
          </p:cNvPr>
          <p:cNvSpPr>
            <a:spLocks noGrp="1"/>
          </p:cNvSpPr>
          <p:nvPr>
            <p:ph type="title"/>
          </p:nvPr>
        </p:nvSpPr>
        <p:spPr/>
        <p:txBody>
          <a:bodyPr/>
          <a:lstStyle/>
          <a:p>
            <a:r>
              <a:rPr lang="it-IT" dirty="0"/>
              <a:t>Esempio 1</a:t>
            </a:r>
          </a:p>
        </p:txBody>
      </p:sp>
      <p:sp>
        <p:nvSpPr>
          <p:cNvPr id="4" name="Segnaposto testo 3">
            <a:extLst>
              <a:ext uri="{FF2B5EF4-FFF2-40B4-BE49-F238E27FC236}">
                <a16:creationId xmlns:a16="http://schemas.microsoft.com/office/drawing/2014/main" id="{FE5B2D50-AE65-F3F6-7A8A-DE2DB5870B8C}"/>
              </a:ext>
            </a:extLst>
          </p:cNvPr>
          <p:cNvSpPr>
            <a:spLocks noGrp="1"/>
          </p:cNvSpPr>
          <p:nvPr>
            <p:ph type="body" sz="half" idx="2"/>
          </p:nvPr>
        </p:nvSpPr>
        <p:spPr/>
        <p:txBody>
          <a:bodyPr/>
          <a:lstStyle/>
          <a:p>
            <a:r>
              <a:rPr lang="it-IT" dirty="0"/>
              <a:t>La regressione lineare semplice</a:t>
            </a:r>
          </a:p>
        </p:txBody>
      </p:sp>
      <p:pic>
        <p:nvPicPr>
          <p:cNvPr id="14" name="Immagine 13">
            <a:extLst>
              <a:ext uri="{FF2B5EF4-FFF2-40B4-BE49-F238E27FC236}">
                <a16:creationId xmlns:a16="http://schemas.microsoft.com/office/drawing/2014/main" id="{9E402A81-A830-8C18-828E-A3162443D901}"/>
              </a:ext>
            </a:extLst>
          </p:cNvPr>
          <p:cNvPicPr>
            <a:picLocks noChangeAspect="1"/>
          </p:cNvPicPr>
          <p:nvPr/>
        </p:nvPicPr>
        <p:blipFill>
          <a:blip r:embed="rId2"/>
          <a:stretch>
            <a:fillRect/>
          </a:stretch>
        </p:blipFill>
        <p:spPr>
          <a:xfrm>
            <a:off x="3498122" y="564306"/>
            <a:ext cx="5082980" cy="4854361"/>
          </a:xfrm>
          <a:prstGeom prst="rect">
            <a:avLst/>
          </a:prstGeom>
        </p:spPr>
      </p:pic>
    </p:spTree>
    <p:extLst>
      <p:ext uri="{BB962C8B-B14F-4D97-AF65-F5344CB8AC3E}">
        <p14:creationId xmlns:p14="http://schemas.microsoft.com/office/powerpoint/2010/main" val="112839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dirty="0"/>
              <a:t>La regressione lineare è IA (più o meno)</a:t>
            </a:r>
          </a:p>
        </p:txBody>
      </p:sp>
      <p:sp>
        <p:nvSpPr>
          <p:cNvPr id="3" name="Segnaposto contenuto 2"/>
          <p:cNvSpPr>
            <a:spLocks noGrp="1"/>
          </p:cNvSpPr>
          <p:nvPr>
            <p:ph idx="1"/>
          </p:nvPr>
        </p:nvSpPr>
        <p:spPr>
          <a:xfrm>
            <a:off x="657224" y="2157731"/>
            <a:ext cx="7886700" cy="4351338"/>
          </a:xfrm>
        </p:spPr>
        <p:txBody>
          <a:bodyPr/>
          <a:lstStyle/>
          <a:p>
            <a:r>
              <a:rPr lang="it-IT" dirty="0"/>
              <a:t>Di fatto, anche in un algoritmo basico come la regressione lineare, abbiamo «addestrato» il computer con dei dati. Il nostro «apprendimento» è rappresentato dai </a:t>
            </a:r>
            <a:r>
              <a:rPr lang="it-IT" b="1" dirty="0"/>
              <a:t>2 parametri</a:t>
            </a:r>
            <a:r>
              <a:rPr lang="it-IT" dirty="0"/>
              <a:t> (la </a:t>
            </a:r>
            <a:r>
              <a:rPr lang="it-IT" b="1" dirty="0"/>
              <a:t>m</a:t>
            </a:r>
            <a:r>
              <a:rPr lang="it-IT" dirty="0"/>
              <a:t> e la </a:t>
            </a:r>
            <a:r>
              <a:rPr lang="it-IT" b="1" dirty="0"/>
              <a:t>b</a:t>
            </a:r>
            <a:r>
              <a:rPr lang="it-IT" dirty="0"/>
              <a:t>)</a:t>
            </a:r>
          </a:p>
          <a:p>
            <a:r>
              <a:rPr lang="it-IT" dirty="0"/>
              <a:t>Semplificando, diciamo che gli algoritmi più complicati non fanno altro che addestrare un numero più elevato di coefficienti: per </a:t>
            </a:r>
            <a:r>
              <a:rPr lang="it-IT" dirty="0" err="1"/>
              <a:t>ChatGPT</a:t>
            </a:r>
            <a:r>
              <a:rPr lang="it-IT" dirty="0"/>
              <a:t>, ad esempio, sono stati addestrati ben </a:t>
            </a:r>
            <a:r>
              <a:rPr lang="it-IT" b="1" dirty="0"/>
              <a:t>175 miliardi di parametri</a:t>
            </a:r>
            <a:r>
              <a:rPr lang="it-IT" dirty="0"/>
              <a:t> nella versione GPT-3, permettendo al modello di comprendere e generare testo con un livello straordinario di complessità e coerenza.</a:t>
            </a:r>
          </a:p>
        </p:txBody>
      </p:sp>
      <p:pic>
        <p:nvPicPr>
          <p:cNvPr id="5" name="Picture 2" descr="File:Scatterplot with simple line regression.png - Wikimedia Commons">
            <a:extLst>
              <a:ext uri="{FF2B5EF4-FFF2-40B4-BE49-F238E27FC236}">
                <a16:creationId xmlns:a16="http://schemas.microsoft.com/office/drawing/2014/main" id="{5AFDBC15-FCA6-ECAC-4B6F-CA097A8F3E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74195" y="2923473"/>
            <a:ext cx="2637980" cy="1981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450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E5207A-39C2-DE46-21FD-A9868146298E}"/>
              </a:ext>
            </a:extLst>
          </p:cNvPr>
          <p:cNvSpPr>
            <a:spLocks noGrp="1"/>
          </p:cNvSpPr>
          <p:nvPr>
            <p:ph type="title"/>
          </p:nvPr>
        </p:nvSpPr>
        <p:spPr/>
        <p:txBody>
          <a:bodyPr/>
          <a:lstStyle/>
          <a:p>
            <a:r>
              <a:rPr lang="it-IT" b="1" dirty="0"/>
              <a:t>Diversi tipi di apprendimenti</a:t>
            </a:r>
          </a:p>
        </p:txBody>
      </p:sp>
      <p:sp>
        <p:nvSpPr>
          <p:cNvPr id="3" name="Segnaposto contenuto 2">
            <a:extLst>
              <a:ext uri="{FF2B5EF4-FFF2-40B4-BE49-F238E27FC236}">
                <a16:creationId xmlns:a16="http://schemas.microsoft.com/office/drawing/2014/main" id="{24A11AE0-4ADB-F691-387F-F3B7EC5EE477}"/>
              </a:ext>
            </a:extLst>
          </p:cNvPr>
          <p:cNvSpPr>
            <a:spLocks noGrp="1"/>
          </p:cNvSpPr>
          <p:nvPr>
            <p:ph idx="1"/>
          </p:nvPr>
        </p:nvSpPr>
        <p:spPr>
          <a:xfrm>
            <a:off x="838986" y="1825625"/>
            <a:ext cx="6109271" cy="4351338"/>
          </a:xfrm>
        </p:spPr>
        <p:txBody>
          <a:bodyPr>
            <a:normAutofit/>
          </a:bodyPr>
          <a:lstStyle/>
          <a:p>
            <a:r>
              <a:rPr lang="it-IT" b="1" dirty="0"/>
              <a:t>Apprendimento supervisionato</a:t>
            </a:r>
            <a:r>
              <a:rPr lang="it-IT" dirty="0"/>
              <a:t>: È un tipo di apprendimento in cui il modello viene addestrato su dati etichettati, dove ogni esempio </a:t>
            </a:r>
            <a:r>
              <a:rPr lang="it-IT" u="sng" dirty="0"/>
              <a:t>ha una risposta corretta fornita</a:t>
            </a:r>
            <a:r>
              <a:rPr lang="it-IT" dirty="0"/>
              <a:t>, permettendo al modello di imparare a mappare gli input agli output giusti.</a:t>
            </a:r>
          </a:p>
          <a:p>
            <a:r>
              <a:rPr lang="it-IT" b="1" dirty="0"/>
              <a:t>Apprendimento non supervisionato: </a:t>
            </a:r>
            <a:r>
              <a:rPr lang="it-IT" dirty="0"/>
              <a:t>È un tipo di apprendimento in cui il modello viene addestrato su dati non etichettati, </a:t>
            </a:r>
            <a:r>
              <a:rPr lang="it-IT" u="sng" dirty="0"/>
              <a:t>senza risposte corrette predefinite</a:t>
            </a:r>
            <a:r>
              <a:rPr lang="it-IT" dirty="0"/>
              <a:t>. L'obiettivo è che il modello identifichi pattern, strutture o relazioni nei dati da solo.</a:t>
            </a:r>
          </a:p>
          <a:p>
            <a:endParaRPr lang="it-IT" dirty="0"/>
          </a:p>
        </p:txBody>
      </p:sp>
      <p:graphicFrame>
        <p:nvGraphicFramePr>
          <p:cNvPr id="10" name="Tabella 9">
            <a:extLst>
              <a:ext uri="{FF2B5EF4-FFF2-40B4-BE49-F238E27FC236}">
                <a16:creationId xmlns:a16="http://schemas.microsoft.com/office/drawing/2014/main" id="{543441A7-CC45-6DDC-43B5-E665E7DC255F}"/>
              </a:ext>
            </a:extLst>
          </p:cNvPr>
          <p:cNvGraphicFramePr>
            <a:graphicFrameLocks noGrp="1"/>
          </p:cNvGraphicFramePr>
          <p:nvPr>
            <p:extLst>
              <p:ext uri="{D42A27DB-BD31-4B8C-83A1-F6EECF244321}">
                <p14:modId xmlns:p14="http://schemas.microsoft.com/office/powerpoint/2010/main" val="594841129"/>
              </p:ext>
            </p:extLst>
          </p:nvPr>
        </p:nvGraphicFramePr>
        <p:xfrm>
          <a:off x="7879161" y="1854416"/>
          <a:ext cx="3048000" cy="11430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697437940"/>
                    </a:ext>
                  </a:extLst>
                </a:gridCol>
                <a:gridCol w="939800">
                  <a:extLst>
                    <a:ext uri="{9D8B030D-6E8A-4147-A177-3AD203B41FA5}">
                      <a16:colId xmlns:a16="http://schemas.microsoft.com/office/drawing/2014/main" val="1342337829"/>
                    </a:ext>
                  </a:extLst>
                </a:gridCol>
                <a:gridCol w="1498600">
                  <a:extLst>
                    <a:ext uri="{9D8B030D-6E8A-4147-A177-3AD203B41FA5}">
                      <a16:colId xmlns:a16="http://schemas.microsoft.com/office/drawing/2014/main" val="3510703785"/>
                    </a:ext>
                  </a:extLst>
                </a:gridCol>
              </a:tblGrid>
              <a:tr h="182880">
                <a:tc>
                  <a:txBody>
                    <a:bodyPr/>
                    <a:lstStyle/>
                    <a:p>
                      <a:pPr algn="ctr" fontAlgn="b"/>
                      <a:r>
                        <a:rPr lang="it-IT" sz="1200" b="1" u="none" strike="noStrike" dirty="0">
                          <a:effectLst/>
                        </a:rPr>
                        <a:t>Età</a:t>
                      </a:r>
                      <a:endParaRPr lang="it-IT" sz="1200" b="1" i="0" u="none" strike="noStrike" dirty="0">
                        <a:solidFill>
                          <a:srgbClr val="000000"/>
                        </a:solidFill>
                        <a:effectLst/>
                        <a:latin typeface="Calibri" panose="020F0502020204030204" pitchFamily="34" charset="0"/>
                      </a:endParaRPr>
                    </a:p>
                  </a:txBody>
                  <a:tcPr marL="7620" marR="7620" marT="7620" marB="0" anchor="b">
                    <a:solidFill>
                      <a:schemeClr val="bg2">
                        <a:lumMod val="90000"/>
                      </a:schemeClr>
                    </a:solidFill>
                  </a:tcPr>
                </a:tc>
                <a:tc>
                  <a:txBody>
                    <a:bodyPr/>
                    <a:lstStyle/>
                    <a:p>
                      <a:pPr algn="ctr" fontAlgn="b"/>
                      <a:r>
                        <a:rPr lang="it-IT" sz="1200" b="1" u="none" strike="noStrike">
                          <a:effectLst/>
                        </a:rPr>
                        <a:t>Ore di Studio</a:t>
                      </a:r>
                      <a:endParaRPr lang="it-IT" sz="1200" b="1" i="0" u="none" strike="noStrike">
                        <a:solidFill>
                          <a:srgbClr val="000000"/>
                        </a:solidFill>
                        <a:effectLst/>
                        <a:latin typeface="Calibri" panose="020F0502020204030204" pitchFamily="34" charset="0"/>
                      </a:endParaRPr>
                    </a:p>
                  </a:txBody>
                  <a:tcPr marL="7620" marR="7620" marT="7620" marB="0" anchor="b">
                    <a:solidFill>
                      <a:schemeClr val="bg2">
                        <a:lumMod val="90000"/>
                      </a:schemeClr>
                    </a:solidFill>
                  </a:tcPr>
                </a:tc>
                <a:tc>
                  <a:txBody>
                    <a:bodyPr/>
                    <a:lstStyle/>
                    <a:p>
                      <a:pPr algn="ctr" fontAlgn="b"/>
                      <a:r>
                        <a:rPr lang="it-IT" sz="1200" b="1" u="none" strike="noStrike" dirty="0">
                          <a:effectLst/>
                        </a:rPr>
                        <a:t>Esito Esame (Target)</a:t>
                      </a:r>
                      <a:endParaRPr lang="it-IT" sz="1200" b="1" i="0" u="none" strike="noStrike" dirty="0">
                        <a:solidFill>
                          <a:srgbClr val="000000"/>
                        </a:solidFill>
                        <a:effectLst/>
                        <a:latin typeface="Calibri" panose="020F0502020204030204" pitchFamily="34" charset="0"/>
                      </a:endParaRPr>
                    </a:p>
                  </a:txBody>
                  <a:tcPr marL="7620" marR="7620" marT="7620" marB="0" anchor="b">
                    <a:solidFill>
                      <a:schemeClr val="bg2">
                        <a:lumMod val="90000"/>
                      </a:schemeClr>
                    </a:solidFill>
                  </a:tcPr>
                </a:tc>
                <a:extLst>
                  <a:ext uri="{0D108BD9-81ED-4DB2-BD59-A6C34878D82A}">
                    <a16:rowId xmlns:a16="http://schemas.microsoft.com/office/drawing/2014/main" val="2413987884"/>
                  </a:ext>
                </a:extLst>
              </a:tr>
              <a:tr h="182880">
                <a:tc>
                  <a:txBody>
                    <a:bodyPr/>
                    <a:lstStyle/>
                    <a:p>
                      <a:pPr algn="r" fontAlgn="b"/>
                      <a:r>
                        <a:rPr lang="it-IT" sz="1200" u="none" strike="noStrike">
                          <a:effectLst/>
                        </a:rPr>
                        <a:t>18</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2</a:t>
                      </a:r>
                      <a:endParaRPr lang="it-IT"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Passato</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04007759"/>
                  </a:ext>
                </a:extLst>
              </a:tr>
              <a:tr h="182880">
                <a:tc>
                  <a:txBody>
                    <a:bodyPr/>
                    <a:lstStyle/>
                    <a:p>
                      <a:pPr algn="r" fontAlgn="b"/>
                      <a:r>
                        <a:rPr lang="it-IT" sz="1200" u="none" strike="noStrike">
                          <a:effectLst/>
                        </a:rPr>
                        <a:t>21</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5</a:t>
                      </a:r>
                      <a:endParaRPr lang="it-IT"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a:effectLst/>
                        </a:rPr>
                        <a:t>Passato</a:t>
                      </a:r>
                      <a:endParaRPr lang="it-IT"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61072661"/>
                  </a:ext>
                </a:extLst>
              </a:tr>
              <a:tr h="182880">
                <a:tc>
                  <a:txBody>
                    <a:bodyPr/>
                    <a:lstStyle/>
                    <a:p>
                      <a:pPr algn="r" fontAlgn="b"/>
                      <a:r>
                        <a:rPr lang="it-IT" sz="1200" u="none" strike="noStrike">
                          <a:effectLst/>
                        </a:rPr>
                        <a:t>19</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a:effectLst/>
                        </a:rPr>
                        <a:t>1</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Non passato</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55374661"/>
                  </a:ext>
                </a:extLst>
              </a:tr>
              <a:tr h="182880">
                <a:tc>
                  <a:txBody>
                    <a:bodyPr/>
                    <a:lstStyle/>
                    <a:p>
                      <a:pPr algn="r" fontAlgn="b"/>
                      <a:r>
                        <a:rPr lang="it-IT" sz="1200" u="none" strike="noStrike">
                          <a:effectLst/>
                        </a:rPr>
                        <a:t>22</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a:effectLst/>
                        </a:rPr>
                        <a:t>4</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Passato</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86750188"/>
                  </a:ext>
                </a:extLst>
              </a:tr>
              <a:tr h="182880">
                <a:tc>
                  <a:txBody>
                    <a:bodyPr/>
                    <a:lstStyle/>
                    <a:p>
                      <a:pPr algn="r" fontAlgn="b"/>
                      <a:r>
                        <a:rPr lang="it-IT" sz="1200" u="none" strike="noStrike">
                          <a:effectLst/>
                        </a:rPr>
                        <a:t>20</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3</a:t>
                      </a:r>
                      <a:endParaRPr lang="it-IT"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Non passato</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8224118"/>
                  </a:ext>
                </a:extLst>
              </a:tr>
            </a:tbl>
          </a:graphicData>
        </a:graphic>
      </p:graphicFrame>
      <p:graphicFrame>
        <p:nvGraphicFramePr>
          <p:cNvPr id="11" name="Tabella 10">
            <a:extLst>
              <a:ext uri="{FF2B5EF4-FFF2-40B4-BE49-F238E27FC236}">
                <a16:creationId xmlns:a16="http://schemas.microsoft.com/office/drawing/2014/main" id="{264A92F3-DE9E-F1BC-5E42-42A86B1DB406}"/>
              </a:ext>
            </a:extLst>
          </p:cNvPr>
          <p:cNvGraphicFramePr>
            <a:graphicFrameLocks noGrp="1"/>
          </p:cNvGraphicFramePr>
          <p:nvPr>
            <p:extLst>
              <p:ext uri="{D42A27DB-BD31-4B8C-83A1-F6EECF244321}">
                <p14:modId xmlns:p14="http://schemas.microsoft.com/office/powerpoint/2010/main" val="3391194957"/>
              </p:ext>
            </p:extLst>
          </p:nvPr>
        </p:nvGraphicFramePr>
        <p:xfrm>
          <a:off x="8489949" y="4887612"/>
          <a:ext cx="1549400" cy="9525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3070306101"/>
                    </a:ext>
                  </a:extLst>
                </a:gridCol>
                <a:gridCol w="939800">
                  <a:extLst>
                    <a:ext uri="{9D8B030D-6E8A-4147-A177-3AD203B41FA5}">
                      <a16:colId xmlns:a16="http://schemas.microsoft.com/office/drawing/2014/main" val="29973296"/>
                    </a:ext>
                  </a:extLst>
                </a:gridCol>
              </a:tblGrid>
              <a:tr h="182880">
                <a:tc>
                  <a:txBody>
                    <a:bodyPr/>
                    <a:lstStyle/>
                    <a:p>
                      <a:pPr algn="ctr" fontAlgn="b"/>
                      <a:r>
                        <a:rPr lang="it-IT" sz="1200" b="1" u="none" strike="noStrike" dirty="0">
                          <a:effectLst/>
                        </a:rPr>
                        <a:t>Età</a:t>
                      </a:r>
                      <a:endParaRPr lang="it-IT" sz="1200" b="1" i="0" u="none" strike="noStrike" dirty="0">
                        <a:solidFill>
                          <a:srgbClr val="000000"/>
                        </a:solidFill>
                        <a:effectLst/>
                        <a:latin typeface="Calibri" panose="020F0502020204030204" pitchFamily="34" charset="0"/>
                      </a:endParaRPr>
                    </a:p>
                  </a:txBody>
                  <a:tcPr marL="7620" marR="7620" marT="7620" marB="0" anchor="b">
                    <a:solidFill>
                      <a:schemeClr val="bg2">
                        <a:lumMod val="90000"/>
                      </a:schemeClr>
                    </a:solidFill>
                  </a:tcPr>
                </a:tc>
                <a:tc>
                  <a:txBody>
                    <a:bodyPr/>
                    <a:lstStyle/>
                    <a:p>
                      <a:pPr algn="ctr" fontAlgn="b"/>
                      <a:r>
                        <a:rPr lang="it-IT" sz="1200" b="1" u="none" strike="noStrike" dirty="0">
                          <a:effectLst/>
                        </a:rPr>
                        <a:t>Ore di Studio</a:t>
                      </a:r>
                      <a:endParaRPr lang="it-IT" sz="1200" b="1" i="0" u="none" strike="noStrike" dirty="0">
                        <a:solidFill>
                          <a:srgbClr val="000000"/>
                        </a:solidFill>
                        <a:effectLst/>
                        <a:latin typeface="Calibri" panose="020F0502020204030204" pitchFamily="34" charset="0"/>
                      </a:endParaRPr>
                    </a:p>
                  </a:txBody>
                  <a:tcPr marL="7620" marR="7620" marT="7620" marB="0" anchor="b">
                    <a:solidFill>
                      <a:schemeClr val="bg2">
                        <a:lumMod val="90000"/>
                      </a:schemeClr>
                    </a:solidFill>
                  </a:tcPr>
                </a:tc>
                <a:extLst>
                  <a:ext uri="{0D108BD9-81ED-4DB2-BD59-A6C34878D82A}">
                    <a16:rowId xmlns:a16="http://schemas.microsoft.com/office/drawing/2014/main" val="1313535524"/>
                  </a:ext>
                </a:extLst>
              </a:tr>
              <a:tr h="182880">
                <a:tc>
                  <a:txBody>
                    <a:bodyPr/>
                    <a:lstStyle/>
                    <a:p>
                      <a:pPr algn="r" fontAlgn="b"/>
                      <a:r>
                        <a:rPr lang="it-IT" sz="1200" u="none" strike="noStrike">
                          <a:effectLst/>
                        </a:rPr>
                        <a:t>18</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2</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0556263"/>
                  </a:ext>
                </a:extLst>
              </a:tr>
              <a:tr h="182880">
                <a:tc>
                  <a:txBody>
                    <a:bodyPr/>
                    <a:lstStyle/>
                    <a:p>
                      <a:pPr algn="r" fontAlgn="b"/>
                      <a:r>
                        <a:rPr lang="it-IT" sz="1200" u="none" strike="noStrike">
                          <a:effectLst/>
                        </a:rPr>
                        <a:t>21</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5</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40619616"/>
                  </a:ext>
                </a:extLst>
              </a:tr>
              <a:tr h="182880">
                <a:tc>
                  <a:txBody>
                    <a:bodyPr/>
                    <a:lstStyle/>
                    <a:p>
                      <a:pPr algn="r" fontAlgn="b"/>
                      <a:r>
                        <a:rPr lang="it-IT" sz="1200" u="none" strike="noStrike">
                          <a:effectLst/>
                        </a:rPr>
                        <a:t>19</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1</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10072951"/>
                  </a:ext>
                </a:extLst>
              </a:tr>
              <a:tr h="182880">
                <a:tc>
                  <a:txBody>
                    <a:bodyPr/>
                    <a:lstStyle/>
                    <a:p>
                      <a:pPr algn="r" fontAlgn="b"/>
                      <a:r>
                        <a:rPr lang="it-IT" sz="1200" u="none" strike="noStrike">
                          <a:effectLst/>
                        </a:rPr>
                        <a:t>22</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4</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66081822"/>
                  </a:ext>
                </a:extLst>
              </a:tr>
            </a:tbl>
          </a:graphicData>
        </a:graphic>
      </p:graphicFrame>
      <p:graphicFrame>
        <p:nvGraphicFramePr>
          <p:cNvPr id="6" name="Tabella 5">
            <a:extLst>
              <a:ext uri="{FF2B5EF4-FFF2-40B4-BE49-F238E27FC236}">
                <a16:creationId xmlns:a16="http://schemas.microsoft.com/office/drawing/2014/main" id="{543441A7-CC45-6DDC-43B5-E665E7DC255F}"/>
              </a:ext>
            </a:extLst>
          </p:cNvPr>
          <p:cNvGraphicFramePr>
            <a:graphicFrameLocks noGrp="1"/>
          </p:cNvGraphicFramePr>
          <p:nvPr>
            <p:extLst>
              <p:ext uri="{D42A27DB-BD31-4B8C-83A1-F6EECF244321}">
                <p14:modId xmlns:p14="http://schemas.microsoft.com/office/powerpoint/2010/main" val="2627059678"/>
              </p:ext>
            </p:extLst>
          </p:nvPr>
        </p:nvGraphicFramePr>
        <p:xfrm>
          <a:off x="7879161" y="3322168"/>
          <a:ext cx="3048000" cy="11430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697437940"/>
                    </a:ext>
                  </a:extLst>
                </a:gridCol>
                <a:gridCol w="939800">
                  <a:extLst>
                    <a:ext uri="{9D8B030D-6E8A-4147-A177-3AD203B41FA5}">
                      <a16:colId xmlns:a16="http://schemas.microsoft.com/office/drawing/2014/main" val="1342337829"/>
                    </a:ext>
                  </a:extLst>
                </a:gridCol>
                <a:gridCol w="1498600">
                  <a:extLst>
                    <a:ext uri="{9D8B030D-6E8A-4147-A177-3AD203B41FA5}">
                      <a16:colId xmlns:a16="http://schemas.microsoft.com/office/drawing/2014/main" val="3510703785"/>
                    </a:ext>
                  </a:extLst>
                </a:gridCol>
              </a:tblGrid>
              <a:tr h="182880">
                <a:tc>
                  <a:txBody>
                    <a:bodyPr/>
                    <a:lstStyle/>
                    <a:p>
                      <a:pPr algn="ctr" fontAlgn="b"/>
                      <a:r>
                        <a:rPr lang="it-IT" sz="1200" b="1" u="none" strike="noStrike" dirty="0">
                          <a:effectLst/>
                        </a:rPr>
                        <a:t>Età</a:t>
                      </a:r>
                      <a:endParaRPr lang="it-IT" sz="1200" b="1" i="0" u="none" strike="noStrike" dirty="0">
                        <a:solidFill>
                          <a:srgbClr val="000000"/>
                        </a:solidFill>
                        <a:effectLst/>
                        <a:latin typeface="Calibri" panose="020F0502020204030204" pitchFamily="34" charset="0"/>
                      </a:endParaRPr>
                    </a:p>
                  </a:txBody>
                  <a:tcPr marL="7620" marR="7620" marT="7620" marB="0" anchor="b">
                    <a:solidFill>
                      <a:schemeClr val="bg2">
                        <a:lumMod val="90000"/>
                      </a:schemeClr>
                    </a:solidFill>
                  </a:tcPr>
                </a:tc>
                <a:tc>
                  <a:txBody>
                    <a:bodyPr/>
                    <a:lstStyle/>
                    <a:p>
                      <a:pPr algn="ctr" fontAlgn="b"/>
                      <a:r>
                        <a:rPr lang="it-IT" sz="1200" b="1" u="none" strike="noStrike">
                          <a:effectLst/>
                        </a:rPr>
                        <a:t>Ore di Studio</a:t>
                      </a:r>
                      <a:endParaRPr lang="it-IT" sz="1200" b="1" i="0" u="none" strike="noStrike">
                        <a:solidFill>
                          <a:srgbClr val="000000"/>
                        </a:solidFill>
                        <a:effectLst/>
                        <a:latin typeface="Calibri" panose="020F0502020204030204" pitchFamily="34" charset="0"/>
                      </a:endParaRPr>
                    </a:p>
                  </a:txBody>
                  <a:tcPr marL="7620" marR="7620" marT="7620" marB="0" anchor="b">
                    <a:solidFill>
                      <a:schemeClr val="bg2">
                        <a:lumMod val="90000"/>
                      </a:schemeClr>
                    </a:solidFill>
                  </a:tcPr>
                </a:tc>
                <a:tc>
                  <a:txBody>
                    <a:bodyPr/>
                    <a:lstStyle/>
                    <a:p>
                      <a:pPr algn="ctr" fontAlgn="b"/>
                      <a:r>
                        <a:rPr lang="it-IT" sz="1200" b="1" u="none" strike="noStrike" dirty="0">
                          <a:effectLst/>
                        </a:rPr>
                        <a:t>Esito Esame (Target)</a:t>
                      </a:r>
                      <a:endParaRPr lang="it-IT" sz="1200" b="1" i="0" u="none" strike="noStrike" dirty="0">
                        <a:solidFill>
                          <a:srgbClr val="000000"/>
                        </a:solidFill>
                        <a:effectLst/>
                        <a:latin typeface="Calibri" panose="020F0502020204030204" pitchFamily="34" charset="0"/>
                      </a:endParaRPr>
                    </a:p>
                  </a:txBody>
                  <a:tcPr marL="7620" marR="7620" marT="7620" marB="0" anchor="b">
                    <a:solidFill>
                      <a:schemeClr val="bg2">
                        <a:lumMod val="90000"/>
                      </a:schemeClr>
                    </a:solidFill>
                  </a:tcPr>
                </a:tc>
                <a:extLst>
                  <a:ext uri="{0D108BD9-81ED-4DB2-BD59-A6C34878D82A}">
                    <a16:rowId xmlns:a16="http://schemas.microsoft.com/office/drawing/2014/main" val="2413987884"/>
                  </a:ext>
                </a:extLst>
              </a:tr>
              <a:tr h="182880">
                <a:tc>
                  <a:txBody>
                    <a:bodyPr/>
                    <a:lstStyle/>
                    <a:p>
                      <a:pPr algn="r" fontAlgn="b"/>
                      <a:r>
                        <a:rPr lang="it-IT" sz="1200" u="none" strike="noStrike">
                          <a:effectLst/>
                        </a:rPr>
                        <a:t>18</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2</a:t>
                      </a:r>
                      <a:endParaRPr lang="it-IT"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20</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04007759"/>
                  </a:ext>
                </a:extLst>
              </a:tr>
              <a:tr h="182880">
                <a:tc>
                  <a:txBody>
                    <a:bodyPr/>
                    <a:lstStyle/>
                    <a:p>
                      <a:pPr algn="r" fontAlgn="b"/>
                      <a:r>
                        <a:rPr lang="it-IT" sz="1200" u="none" strike="noStrike">
                          <a:effectLst/>
                        </a:rPr>
                        <a:t>21</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5</a:t>
                      </a:r>
                      <a:endParaRPr lang="it-IT"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28</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61072661"/>
                  </a:ext>
                </a:extLst>
              </a:tr>
              <a:tr h="182880">
                <a:tc>
                  <a:txBody>
                    <a:bodyPr/>
                    <a:lstStyle/>
                    <a:p>
                      <a:pPr algn="r" fontAlgn="b"/>
                      <a:r>
                        <a:rPr lang="it-IT" sz="1200" u="none" strike="noStrike">
                          <a:effectLst/>
                        </a:rPr>
                        <a:t>19</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a:effectLst/>
                        </a:rPr>
                        <a:t>1</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16</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55374661"/>
                  </a:ext>
                </a:extLst>
              </a:tr>
              <a:tr h="182880">
                <a:tc>
                  <a:txBody>
                    <a:bodyPr/>
                    <a:lstStyle/>
                    <a:p>
                      <a:pPr algn="r" fontAlgn="b"/>
                      <a:r>
                        <a:rPr lang="it-IT" sz="1200" u="none" strike="noStrike">
                          <a:effectLst/>
                        </a:rPr>
                        <a:t>22</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a:effectLst/>
                        </a:rPr>
                        <a:t>4</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30</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86750188"/>
                  </a:ext>
                </a:extLst>
              </a:tr>
              <a:tr h="182880">
                <a:tc>
                  <a:txBody>
                    <a:bodyPr/>
                    <a:lstStyle/>
                    <a:p>
                      <a:pPr algn="r" fontAlgn="b"/>
                      <a:r>
                        <a:rPr lang="it-IT" sz="1200" u="none" strike="noStrike">
                          <a:effectLst/>
                        </a:rPr>
                        <a:t>20</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a:effectLst/>
                        </a:rPr>
                        <a:t>3</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14</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8224118"/>
                  </a:ext>
                </a:extLst>
              </a:tr>
            </a:tbl>
          </a:graphicData>
        </a:graphic>
      </p:graphicFrame>
    </p:spTree>
    <p:extLst>
      <p:ext uri="{BB962C8B-B14F-4D97-AF65-F5344CB8AC3E}">
        <p14:creationId xmlns:p14="http://schemas.microsoft.com/office/powerpoint/2010/main" val="1286706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a 3"/>
          <p:cNvGraphicFramePr/>
          <p:nvPr>
            <p:extLst>
              <p:ext uri="{D42A27DB-BD31-4B8C-83A1-F6EECF244321}">
                <p14:modId xmlns:p14="http://schemas.microsoft.com/office/powerpoint/2010/main" val="4285004496"/>
              </p:ext>
            </p:extLst>
          </p:nvPr>
        </p:nvGraphicFramePr>
        <p:xfrm>
          <a:off x="1851590" y="1234630"/>
          <a:ext cx="4825525"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asellaDiTesto 4"/>
          <p:cNvSpPr txBox="1"/>
          <p:nvPr/>
        </p:nvSpPr>
        <p:spPr>
          <a:xfrm>
            <a:off x="6866885" y="431936"/>
            <a:ext cx="3640509" cy="6186309"/>
          </a:xfrm>
          <a:prstGeom prst="rect">
            <a:avLst/>
          </a:prstGeom>
          <a:noFill/>
        </p:spPr>
        <p:txBody>
          <a:bodyPr wrap="square" rtlCol="0">
            <a:spAutoFit/>
          </a:bodyPr>
          <a:lstStyle/>
          <a:p>
            <a:r>
              <a:rPr lang="it-IT" sz="1400" b="1" dirty="0"/>
              <a:t>Classificazione: </a:t>
            </a:r>
            <a:r>
              <a:rPr lang="it-IT" sz="1400" dirty="0"/>
              <a:t>una banca vuole capire se un cliente potenziale approverà un prestito o no. Il modello di classificazione riceve dati come reddito, età e debiti, e restituisce una classe: “approvato” oppure “rifiutato”.</a:t>
            </a:r>
          </a:p>
          <a:p>
            <a:endParaRPr lang="it-IT" sz="1400" b="1" dirty="0"/>
          </a:p>
          <a:p>
            <a:r>
              <a:rPr lang="it-IT" sz="1400" b="1" dirty="0"/>
              <a:t>Regressione: </a:t>
            </a:r>
            <a:r>
              <a:rPr lang="it-IT" sz="1400" dirty="0"/>
              <a:t>un’azienda vuole prevedere il prezzo di vendita di una casa in base alla sua superficie, al numero di stanze e alla zona. Si usa un modello di regressione per stimare un valore numerico continuo, ad esempio 250.000 euro.</a:t>
            </a:r>
          </a:p>
          <a:p>
            <a:endParaRPr lang="it-IT" sz="1400" dirty="0"/>
          </a:p>
          <a:p>
            <a:r>
              <a:rPr lang="it-IT" sz="1400" b="1" dirty="0"/>
              <a:t>Clustering: </a:t>
            </a:r>
            <a:r>
              <a:rPr lang="it-IT" sz="1400" dirty="0"/>
              <a:t>un supermercato analizza le abitudini di acquisto dei clienti per raggrupparli in segmenti simili, come “famiglie numerose”, “studenti” e “clienti premium”. Il modello di clustering trova questi gruppi senza usare etichette predefinite.</a:t>
            </a:r>
          </a:p>
          <a:p>
            <a:endParaRPr lang="it-IT" sz="1400" dirty="0"/>
          </a:p>
          <a:p>
            <a:r>
              <a:rPr lang="it-IT" sz="1400" b="1" dirty="0"/>
              <a:t>Riduzione della dimensionalità:</a:t>
            </a:r>
            <a:r>
              <a:rPr lang="it-IT" sz="1400" dirty="0"/>
              <a:t> Il supermercato ha un database con centinaia di informazioni su ogni cliente (orario della spesa, quanti biscotti, quanti detersivi, ecc.). Per non impazzire con troppe variabili, usa un modello per condensare tutti questi dati in due soli fattori generali.</a:t>
            </a:r>
          </a:p>
          <a:p>
            <a:endParaRPr lang="it-IT" dirty="0"/>
          </a:p>
        </p:txBody>
      </p:sp>
    </p:spTree>
    <p:extLst>
      <p:ext uri="{BB962C8B-B14F-4D97-AF65-F5344CB8AC3E}">
        <p14:creationId xmlns:p14="http://schemas.microsoft.com/office/powerpoint/2010/main" val="199347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E5207A-39C2-DE46-21FD-A9868146298E}"/>
              </a:ext>
            </a:extLst>
          </p:cNvPr>
          <p:cNvSpPr>
            <a:spLocks noGrp="1"/>
          </p:cNvSpPr>
          <p:nvPr>
            <p:ph type="title"/>
          </p:nvPr>
        </p:nvSpPr>
        <p:spPr/>
        <p:txBody>
          <a:bodyPr/>
          <a:lstStyle/>
          <a:p>
            <a:r>
              <a:rPr lang="it-IT" b="1" dirty="0"/>
              <a:t>Diversi tipi di apprendimenti</a:t>
            </a:r>
          </a:p>
        </p:txBody>
      </p:sp>
      <p:sp>
        <p:nvSpPr>
          <p:cNvPr id="3" name="Segnaposto contenuto 2">
            <a:extLst>
              <a:ext uri="{FF2B5EF4-FFF2-40B4-BE49-F238E27FC236}">
                <a16:creationId xmlns:a16="http://schemas.microsoft.com/office/drawing/2014/main" id="{24A11AE0-4ADB-F691-387F-F3B7EC5EE477}"/>
              </a:ext>
            </a:extLst>
          </p:cNvPr>
          <p:cNvSpPr>
            <a:spLocks noGrp="1"/>
          </p:cNvSpPr>
          <p:nvPr>
            <p:ph idx="1"/>
          </p:nvPr>
        </p:nvSpPr>
        <p:spPr>
          <a:xfrm>
            <a:off x="707010" y="1825625"/>
            <a:ext cx="6241247" cy="4351338"/>
          </a:xfrm>
        </p:spPr>
        <p:txBody>
          <a:bodyPr>
            <a:normAutofit/>
          </a:bodyPr>
          <a:lstStyle/>
          <a:p>
            <a:r>
              <a:rPr lang="it-IT" b="1" dirty="0"/>
              <a:t>Apprendimento supervisionato</a:t>
            </a:r>
            <a:r>
              <a:rPr lang="it-IT" dirty="0"/>
              <a:t>: È un tipo di apprendimento in cui il modello viene addestrato su dati etichettati, dove ogni esempio </a:t>
            </a:r>
            <a:r>
              <a:rPr lang="it-IT" u="sng" dirty="0"/>
              <a:t>ha una risposta corretta fornita</a:t>
            </a:r>
            <a:r>
              <a:rPr lang="it-IT" dirty="0"/>
              <a:t>, permettendo al modello di imparare a mappare gli input agli output giusti.</a:t>
            </a:r>
          </a:p>
          <a:p>
            <a:r>
              <a:rPr lang="it-IT" b="1" dirty="0"/>
              <a:t>Apprendimento non supervisionato: </a:t>
            </a:r>
            <a:r>
              <a:rPr lang="it-IT" dirty="0"/>
              <a:t>È un tipo di apprendimento in cui il modello viene addestrato su dati non etichettati, </a:t>
            </a:r>
            <a:r>
              <a:rPr lang="it-IT" u="sng" dirty="0"/>
              <a:t>senza risposte corrette predefinite</a:t>
            </a:r>
            <a:r>
              <a:rPr lang="it-IT" dirty="0"/>
              <a:t>. L'obiettivo è che il modello identifichi pattern, strutture o relazioni nei dati da solo.</a:t>
            </a:r>
          </a:p>
          <a:p>
            <a:endParaRPr lang="it-IT" dirty="0"/>
          </a:p>
        </p:txBody>
      </p:sp>
      <p:graphicFrame>
        <p:nvGraphicFramePr>
          <p:cNvPr id="10" name="Tabella 9">
            <a:extLst>
              <a:ext uri="{FF2B5EF4-FFF2-40B4-BE49-F238E27FC236}">
                <a16:creationId xmlns:a16="http://schemas.microsoft.com/office/drawing/2014/main" id="{543441A7-CC45-6DDC-43B5-E665E7DC255F}"/>
              </a:ext>
            </a:extLst>
          </p:cNvPr>
          <p:cNvGraphicFramePr>
            <a:graphicFrameLocks noGrp="1"/>
          </p:cNvGraphicFramePr>
          <p:nvPr>
            <p:extLst>
              <p:ext uri="{D42A27DB-BD31-4B8C-83A1-F6EECF244321}">
                <p14:modId xmlns:p14="http://schemas.microsoft.com/office/powerpoint/2010/main" val="4291144272"/>
              </p:ext>
            </p:extLst>
          </p:nvPr>
        </p:nvGraphicFramePr>
        <p:xfrm>
          <a:off x="7992283" y="1825625"/>
          <a:ext cx="3048000" cy="11430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697437940"/>
                    </a:ext>
                  </a:extLst>
                </a:gridCol>
                <a:gridCol w="939800">
                  <a:extLst>
                    <a:ext uri="{9D8B030D-6E8A-4147-A177-3AD203B41FA5}">
                      <a16:colId xmlns:a16="http://schemas.microsoft.com/office/drawing/2014/main" val="1342337829"/>
                    </a:ext>
                  </a:extLst>
                </a:gridCol>
                <a:gridCol w="1498600">
                  <a:extLst>
                    <a:ext uri="{9D8B030D-6E8A-4147-A177-3AD203B41FA5}">
                      <a16:colId xmlns:a16="http://schemas.microsoft.com/office/drawing/2014/main" val="3510703785"/>
                    </a:ext>
                  </a:extLst>
                </a:gridCol>
              </a:tblGrid>
              <a:tr h="182880">
                <a:tc>
                  <a:txBody>
                    <a:bodyPr/>
                    <a:lstStyle/>
                    <a:p>
                      <a:pPr algn="ctr" fontAlgn="b"/>
                      <a:r>
                        <a:rPr lang="it-IT" sz="1200" b="1" u="none" strike="noStrike" dirty="0">
                          <a:effectLst/>
                        </a:rPr>
                        <a:t>Età</a:t>
                      </a:r>
                      <a:endParaRPr lang="it-IT" sz="1200" b="1" i="0" u="none" strike="noStrike" dirty="0">
                        <a:solidFill>
                          <a:srgbClr val="000000"/>
                        </a:solidFill>
                        <a:effectLst/>
                        <a:latin typeface="Calibri" panose="020F0502020204030204" pitchFamily="34" charset="0"/>
                      </a:endParaRPr>
                    </a:p>
                  </a:txBody>
                  <a:tcPr marL="7620" marR="7620" marT="7620" marB="0" anchor="b">
                    <a:solidFill>
                      <a:schemeClr val="bg2">
                        <a:lumMod val="90000"/>
                      </a:schemeClr>
                    </a:solidFill>
                  </a:tcPr>
                </a:tc>
                <a:tc>
                  <a:txBody>
                    <a:bodyPr/>
                    <a:lstStyle/>
                    <a:p>
                      <a:pPr algn="ctr" fontAlgn="b"/>
                      <a:r>
                        <a:rPr lang="it-IT" sz="1200" b="1" u="none" strike="noStrike">
                          <a:effectLst/>
                        </a:rPr>
                        <a:t>Ore di Studio</a:t>
                      </a:r>
                      <a:endParaRPr lang="it-IT" sz="1200" b="1" i="0" u="none" strike="noStrike">
                        <a:solidFill>
                          <a:srgbClr val="000000"/>
                        </a:solidFill>
                        <a:effectLst/>
                        <a:latin typeface="Calibri" panose="020F0502020204030204" pitchFamily="34" charset="0"/>
                      </a:endParaRPr>
                    </a:p>
                  </a:txBody>
                  <a:tcPr marL="7620" marR="7620" marT="7620" marB="0" anchor="b">
                    <a:solidFill>
                      <a:schemeClr val="bg2">
                        <a:lumMod val="90000"/>
                      </a:schemeClr>
                    </a:solidFill>
                  </a:tcPr>
                </a:tc>
                <a:tc>
                  <a:txBody>
                    <a:bodyPr/>
                    <a:lstStyle/>
                    <a:p>
                      <a:pPr algn="ctr" fontAlgn="b"/>
                      <a:r>
                        <a:rPr lang="it-IT" sz="1200" b="1" u="none" strike="noStrike" dirty="0">
                          <a:effectLst/>
                        </a:rPr>
                        <a:t>Esito Esame (Target)</a:t>
                      </a:r>
                      <a:endParaRPr lang="it-IT" sz="1200" b="1" i="0" u="none" strike="noStrike" dirty="0">
                        <a:solidFill>
                          <a:srgbClr val="000000"/>
                        </a:solidFill>
                        <a:effectLst/>
                        <a:latin typeface="Calibri" panose="020F0502020204030204" pitchFamily="34" charset="0"/>
                      </a:endParaRPr>
                    </a:p>
                  </a:txBody>
                  <a:tcPr marL="7620" marR="7620" marT="7620" marB="0" anchor="b">
                    <a:solidFill>
                      <a:schemeClr val="bg2">
                        <a:lumMod val="90000"/>
                      </a:schemeClr>
                    </a:solidFill>
                  </a:tcPr>
                </a:tc>
                <a:extLst>
                  <a:ext uri="{0D108BD9-81ED-4DB2-BD59-A6C34878D82A}">
                    <a16:rowId xmlns:a16="http://schemas.microsoft.com/office/drawing/2014/main" val="2413987884"/>
                  </a:ext>
                </a:extLst>
              </a:tr>
              <a:tr h="182880">
                <a:tc>
                  <a:txBody>
                    <a:bodyPr/>
                    <a:lstStyle/>
                    <a:p>
                      <a:pPr algn="r" fontAlgn="b"/>
                      <a:r>
                        <a:rPr lang="it-IT" sz="1200" u="none" strike="noStrike">
                          <a:effectLst/>
                        </a:rPr>
                        <a:t>18</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2</a:t>
                      </a:r>
                      <a:endParaRPr lang="it-IT"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Passato</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04007759"/>
                  </a:ext>
                </a:extLst>
              </a:tr>
              <a:tr h="182880">
                <a:tc>
                  <a:txBody>
                    <a:bodyPr/>
                    <a:lstStyle/>
                    <a:p>
                      <a:pPr algn="r" fontAlgn="b"/>
                      <a:r>
                        <a:rPr lang="it-IT" sz="1200" u="none" strike="noStrike">
                          <a:effectLst/>
                        </a:rPr>
                        <a:t>21</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5</a:t>
                      </a:r>
                      <a:endParaRPr lang="it-IT"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a:effectLst/>
                        </a:rPr>
                        <a:t>Passato</a:t>
                      </a:r>
                      <a:endParaRPr lang="it-IT" sz="12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61072661"/>
                  </a:ext>
                </a:extLst>
              </a:tr>
              <a:tr h="182880">
                <a:tc>
                  <a:txBody>
                    <a:bodyPr/>
                    <a:lstStyle/>
                    <a:p>
                      <a:pPr algn="r" fontAlgn="b"/>
                      <a:r>
                        <a:rPr lang="it-IT" sz="1200" u="none" strike="noStrike">
                          <a:effectLst/>
                        </a:rPr>
                        <a:t>19</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a:effectLst/>
                        </a:rPr>
                        <a:t>1</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Non passato</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55374661"/>
                  </a:ext>
                </a:extLst>
              </a:tr>
              <a:tr h="182880">
                <a:tc>
                  <a:txBody>
                    <a:bodyPr/>
                    <a:lstStyle/>
                    <a:p>
                      <a:pPr algn="r" fontAlgn="b"/>
                      <a:r>
                        <a:rPr lang="it-IT" sz="1200" u="none" strike="noStrike">
                          <a:effectLst/>
                        </a:rPr>
                        <a:t>22</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a:effectLst/>
                        </a:rPr>
                        <a:t>4</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Passato</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86750188"/>
                  </a:ext>
                </a:extLst>
              </a:tr>
              <a:tr h="182880">
                <a:tc>
                  <a:txBody>
                    <a:bodyPr/>
                    <a:lstStyle/>
                    <a:p>
                      <a:pPr algn="r" fontAlgn="b"/>
                      <a:r>
                        <a:rPr lang="it-IT" sz="1200" u="none" strike="noStrike">
                          <a:effectLst/>
                        </a:rPr>
                        <a:t>20</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3</a:t>
                      </a:r>
                      <a:endParaRPr lang="it-IT"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Non passato</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8224118"/>
                  </a:ext>
                </a:extLst>
              </a:tr>
            </a:tbl>
          </a:graphicData>
        </a:graphic>
      </p:graphicFrame>
      <p:graphicFrame>
        <p:nvGraphicFramePr>
          <p:cNvPr id="11" name="Tabella 10">
            <a:extLst>
              <a:ext uri="{FF2B5EF4-FFF2-40B4-BE49-F238E27FC236}">
                <a16:creationId xmlns:a16="http://schemas.microsoft.com/office/drawing/2014/main" id="{264A92F3-DE9E-F1BC-5E42-42A86B1DB406}"/>
              </a:ext>
            </a:extLst>
          </p:cNvPr>
          <p:cNvGraphicFramePr>
            <a:graphicFrameLocks noGrp="1"/>
          </p:cNvGraphicFramePr>
          <p:nvPr>
            <p:extLst>
              <p:ext uri="{D42A27DB-BD31-4B8C-83A1-F6EECF244321}">
                <p14:modId xmlns:p14="http://schemas.microsoft.com/office/powerpoint/2010/main" val="2255160648"/>
              </p:ext>
            </p:extLst>
          </p:nvPr>
        </p:nvGraphicFramePr>
        <p:xfrm>
          <a:off x="8187133" y="4662696"/>
          <a:ext cx="1549400" cy="9525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3070306101"/>
                    </a:ext>
                  </a:extLst>
                </a:gridCol>
                <a:gridCol w="939800">
                  <a:extLst>
                    <a:ext uri="{9D8B030D-6E8A-4147-A177-3AD203B41FA5}">
                      <a16:colId xmlns:a16="http://schemas.microsoft.com/office/drawing/2014/main" val="29973296"/>
                    </a:ext>
                  </a:extLst>
                </a:gridCol>
              </a:tblGrid>
              <a:tr h="182880">
                <a:tc>
                  <a:txBody>
                    <a:bodyPr/>
                    <a:lstStyle/>
                    <a:p>
                      <a:pPr algn="ctr" fontAlgn="b"/>
                      <a:r>
                        <a:rPr lang="it-IT" sz="1200" b="1" u="none" strike="noStrike" dirty="0">
                          <a:effectLst/>
                        </a:rPr>
                        <a:t>Età</a:t>
                      </a:r>
                      <a:endParaRPr lang="it-IT" sz="1200" b="1" i="0" u="none" strike="noStrike" dirty="0">
                        <a:solidFill>
                          <a:srgbClr val="000000"/>
                        </a:solidFill>
                        <a:effectLst/>
                        <a:latin typeface="Calibri" panose="020F0502020204030204" pitchFamily="34" charset="0"/>
                      </a:endParaRPr>
                    </a:p>
                  </a:txBody>
                  <a:tcPr marL="7620" marR="7620" marT="7620" marB="0" anchor="b">
                    <a:solidFill>
                      <a:schemeClr val="bg2">
                        <a:lumMod val="90000"/>
                      </a:schemeClr>
                    </a:solidFill>
                  </a:tcPr>
                </a:tc>
                <a:tc>
                  <a:txBody>
                    <a:bodyPr/>
                    <a:lstStyle/>
                    <a:p>
                      <a:pPr algn="ctr" fontAlgn="b"/>
                      <a:r>
                        <a:rPr lang="it-IT" sz="1200" b="1" u="none" strike="noStrike" dirty="0">
                          <a:effectLst/>
                        </a:rPr>
                        <a:t>Ore di Studio</a:t>
                      </a:r>
                      <a:endParaRPr lang="it-IT" sz="1200" b="1" i="0" u="none" strike="noStrike" dirty="0">
                        <a:solidFill>
                          <a:srgbClr val="000000"/>
                        </a:solidFill>
                        <a:effectLst/>
                        <a:latin typeface="Calibri" panose="020F0502020204030204" pitchFamily="34" charset="0"/>
                      </a:endParaRPr>
                    </a:p>
                  </a:txBody>
                  <a:tcPr marL="7620" marR="7620" marT="7620" marB="0" anchor="b">
                    <a:solidFill>
                      <a:schemeClr val="bg2">
                        <a:lumMod val="90000"/>
                      </a:schemeClr>
                    </a:solidFill>
                  </a:tcPr>
                </a:tc>
                <a:extLst>
                  <a:ext uri="{0D108BD9-81ED-4DB2-BD59-A6C34878D82A}">
                    <a16:rowId xmlns:a16="http://schemas.microsoft.com/office/drawing/2014/main" val="1313535524"/>
                  </a:ext>
                </a:extLst>
              </a:tr>
              <a:tr h="182880">
                <a:tc>
                  <a:txBody>
                    <a:bodyPr/>
                    <a:lstStyle/>
                    <a:p>
                      <a:pPr algn="r" fontAlgn="b"/>
                      <a:r>
                        <a:rPr lang="it-IT" sz="1200" u="none" strike="noStrike">
                          <a:effectLst/>
                        </a:rPr>
                        <a:t>18</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2</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0556263"/>
                  </a:ext>
                </a:extLst>
              </a:tr>
              <a:tr h="182880">
                <a:tc>
                  <a:txBody>
                    <a:bodyPr/>
                    <a:lstStyle/>
                    <a:p>
                      <a:pPr algn="r" fontAlgn="b"/>
                      <a:r>
                        <a:rPr lang="it-IT" sz="1200" u="none" strike="noStrike">
                          <a:effectLst/>
                        </a:rPr>
                        <a:t>21</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5</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40619616"/>
                  </a:ext>
                </a:extLst>
              </a:tr>
              <a:tr h="182880">
                <a:tc>
                  <a:txBody>
                    <a:bodyPr/>
                    <a:lstStyle/>
                    <a:p>
                      <a:pPr algn="r" fontAlgn="b"/>
                      <a:r>
                        <a:rPr lang="it-IT" sz="1200" u="none" strike="noStrike">
                          <a:effectLst/>
                        </a:rPr>
                        <a:t>19</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1</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10072951"/>
                  </a:ext>
                </a:extLst>
              </a:tr>
              <a:tr h="182880">
                <a:tc>
                  <a:txBody>
                    <a:bodyPr/>
                    <a:lstStyle/>
                    <a:p>
                      <a:pPr algn="r" fontAlgn="b"/>
                      <a:r>
                        <a:rPr lang="it-IT" sz="1200" u="none" strike="noStrike">
                          <a:effectLst/>
                        </a:rPr>
                        <a:t>22</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4</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266081822"/>
                  </a:ext>
                </a:extLst>
              </a:tr>
            </a:tbl>
          </a:graphicData>
        </a:graphic>
      </p:graphicFrame>
      <p:graphicFrame>
        <p:nvGraphicFramePr>
          <p:cNvPr id="6" name="Tabella 5">
            <a:extLst>
              <a:ext uri="{FF2B5EF4-FFF2-40B4-BE49-F238E27FC236}">
                <a16:creationId xmlns:a16="http://schemas.microsoft.com/office/drawing/2014/main" id="{543441A7-CC45-6DDC-43B5-E665E7DC255F}"/>
              </a:ext>
            </a:extLst>
          </p:cNvPr>
          <p:cNvGraphicFramePr>
            <a:graphicFrameLocks noGrp="1"/>
          </p:cNvGraphicFramePr>
          <p:nvPr>
            <p:extLst>
              <p:ext uri="{D42A27DB-BD31-4B8C-83A1-F6EECF244321}">
                <p14:modId xmlns:p14="http://schemas.microsoft.com/office/powerpoint/2010/main" val="795106407"/>
              </p:ext>
            </p:extLst>
          </p:nvPr>
        </p:nvGraphicFramePr>
        <p:xfrm>
          <a:off x="7992283" y="3152945"/>
          <a:ext cx="3048000" cy="11430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697437940"/>
                    </a:ext>
                  </a:extLst>
                </a:gridCol>
                <a:gridCol w="939800">
                  <a:extLst>
                    <a:ext uri="{9D8B030D-6E8A-4147-A177-3AD203B41FA5}">
                      <a16:colId xmlns:a16="http://schemas.microsoft.com/office/drawing/2014/main" val="1342337829"/>
                    </a:ext>
                  </a:extLst>
                </a:gridCol>
                <a:gridCol w="1498600">
                  <a:extLst>
                    <a:ext uri="{9D8B030D-6E8A-4147-A177-3AD203B41FA5}">
                      <a16:colId xmlns:a16="http://schemas.microsoft.com/office/drawing/2014/main" val="3510703785"/>
                    </a:ext>
                  </a:extLst>
                </a:gridCol>
              </a:tblGrid>
              <a:tr h="182880">
                <a:tc>
                  <a:txBody>
                    <a:bodyPr/>
                    <a:lstStyle/>
                    <a:p>
                      <a:pPr algn="ctr" fontAlgn="b"/>
                      <a:r>
                        <a:rPr lang="it-IT" sz="1200" b="1" u="none" strike="noStrike" dirty="0">
                          <a:effectLst/>
                        </a:rPr>
                        <a:t>Età</a:t>
                      </a:r>
                      <a:endParaRPr lang="it-IT" sz="1200" b="1" i="0" u="none" strike="noStrike" dirty="0">
                        <a:solidFill>
                          <a:srgbClr val="000000"/>
                        </a:solidFill>
                        <a:effectLst/>
                        <a:latin typeface="Calibri" panose="020F0502020204030204" pitchFamily="34" charset="0"/>
                      </a:endParaRPr>
                    </a:p>
                  </a:txBody>
                  <a:tcPr marL="7620" marR="7620" marT="7620" marB="0" anchor="b">
                    <a:solidFill>
                      <a:schemeClr val="bg2">
                        <a:lumMod val="90000"/>
                      </a:schemeClr>
                    </a:solidFill>
                  </a:tcPr>
                </a:tc>
                <a:tc>
                  <a:txBody>
                    <a:bodyPr/>
                    <a:lstStyle/>
                    <a:p>
                      <a:pPr algn="ctr" fontAlgn="b"/>
                      <a:r>
                        <a:rPr lang="it-IT" sz="1200" b="1" u="none" strike="noStrike">
                          <a:effectLst/>
                        </a:rPr>
                        <a:t>Ore di Studio</a:t>
                      </a:r>
                      <a:endParaRPr lang="it-IT" sz="1200" b="1" i="0" u="none" strike="noStrike">
                        <a:solidFill>
                          <a:srgbClr val="000000"/>
                        </a:solidFill>
                        <a:effectLst/>
                        <a:latin typeface="Calibri" panose="020F0502020204030204" pitchFamily="34" charset="0"/>
                      </a:endParaRPr>
                    </a:p>
                  </a:txBody>
                  <a:tcPr marL="7620" marR="7620" marT="7620" marB="0" anchor="b">
                    <a:solidFill>
                      <a:schemeClr val="bg2">
                        <a:lumMod val="90000"/>
                      </a:schemeClr>
                    </a:solidFill>
                  </a:tcPr>
                </a:tc>
                <a:tc>
                  <a:txBody>
                    <a:bodyPr/>
                    <a:lstStyle/>
                    <a:p>
                      <a:pPr algn="ctr" fontAlgn="b"/>
                      <a:r>
                        <a:rPr lang="it-IT" sz="1200" b="1" u="none" strike="noStrike" dirty="0">
                          <a:effectLst/>
                        </a:rPr>
                        <a:t>Esito Esame (Target)</a:t>
                      </a:r>
                      <a:endParaRPr lang="it-IT" sz="1200" b="1" i="0" u="none" strike="noStrike" dirty="0">
                        <a:solidFill>
                          <a:srgbClr val="000000"/>
                        </a:solidFill>
                        <a:effectLst/>
                        <a:latin typeface="Calibri" panose="020F0502020204030204" pitchFamily="34" charset="0"/>
                      </a:endParaRPr>
                    </a:p>
                  </a:txBody>
                  <a:tcPr marL="7620" marR="7620" marT="7620" marB="0" anchor="b">
                    <a:solidFill>
                      <a:schemeClr val="bg2">
                        <a:lumMod val="90000"/>
                      </a:schemeClr>
                    </a:solidFill>
                  </a:tcPr>
                </a:tc>
                <a:extLst>
                  <a:ext uri="{0D108BD9-81ED-4DB2-BD59-A6C34878D82A}">
                    <a16:rowId xmlns:a16="http://schemas.microsoft.com/office/drawing/2014/main" val="2413987884"/>
                  </a:ext>
                </a:extLst>
              </a:tr>
              <a:tr h="182880">
                <a:tc>
                  <a:txBody>
                    <a:bodyPr/>
                    <a:lstStyle/>
                    <a:p>
                      <a:pPr algn="r" fontAlgn="b"/>
                      <a:r>
                        <a:rPr lang="it-IT" sz="1200" u="none" strike="noStrike">
                          <a:effectLst/>
                        </a:rPr>
                        <a:t>18</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2</a:t>
                      </a:r>
                      <a:endParaRPr lang="it-IT"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20</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04007759"/>
                  </a:ext>
                </a:extLst>
              </a:tr>
              <a:tr h="182880">
                <a:tc>
                  <a:txBody>
                    <a:bodyPr/>
                    <a:lstStyle/>
                    <a:p>
                      <a:pPr algn="r" fontAlgn="b"/>
                      <a:r>
                        <a:rPr lang="it-IT" sz="1200" u="none" strike="noStrike">
                          <a:effectLst/>
                        </a:rPr>
                        <a:t>21</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dirty="0">
                          <a:effectLst/>
                        </a:rPr>
                        <a:t>5</a:t>
                      </a:r>
                      <a:endParaRPr lang="it-IT" sz="12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28</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61072661"/>
                  </a:ext>
                </a:extLst>
              </a:tr>
              <a:tr h="182880">
                <a:tc>
                  <a:txBody>
                    <a:bodyPr/>
                    <a:lstStyle/>
                    <a:p>
                      <a:pPr algn="r" fontAlgn="b"/>
                      <a:r>
                        <a:rPr lang="it-IT" sz="1200" u="none" strike="noStrike">
                          <a:effectLst/>
                        </a:rPr>
                        <a:t>19</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a:effectLst/>
                        </a:rPr>
                        <a:t>1</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16</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55374661"/>
                  </a:ext>
                </a:extLst>
              </a:tr>
              <a:tr h="182880">
                <a:tc>
                  <a:txBody>
                    <a:bodyPr/>
                    <a:lstStyle/>
                    <a:p>
                      <a:pPr algn="r" fontAlgn="b"/>
                      <a:r>
                        <a:rPr lang="it-IT" sz="1200" u="none" strike="noStrike">
                          <a:effectLst/>
                        </a:rPr>
                        <a:t>22</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a:effectLst/>
                        </a:rPr>
                        <a:t>4</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30</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86750188"/>
                  </a:ext>
                </a:extLst>
              </a:tr>
              <a:tr h="182880">
                <a:tc>
                  <a:txBody>
                    <a:bodyPr/>
                    <a:lstStyle/>
                    <a:p>
                      <a:pPr algn="r" fontAlgn="b"/>
                      <a:r>
                        <a:rPr lang="it-IT" sz="1200" u="none" strike="noStrike">
                          <a:effectLst/>
                        </a:rPr>
                        <a:t>20</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r>
                        <a:rPr lang="it-IT" sz="1200" u="none" strike="noStrike">
                          <a:effectLst/>
                        </a:rPr>
                        <a:t>3</a:t>
                      </a:r>
                      <a:endParaRPr lang="it-IT" sz="12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it-IT" sz="1200" u="none" strike="noStrike" dirty="0">
                          <a:effectLst/>
                        </a:rPr>
                        <a:t>14</a:t>
                      </a:r>
                      <a:endParaRPr lang="it-IT" sz="12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8224118"/>
                  </a:ext>
                </a:extLst>
              </a:tr>
            </a:tbl>
          </a:graphicData>
        </a:graphic>
      </p:graphicFrame>
    </p:spTree>
    <p:extLst>
      <p:ext uri="{BB962C8B-B14F-4D97-AF65-F5344CB8AC3E}">
        <p14:creationId xmlns:p14="http://schemas.microsoft.com/office/powerpoint/2010/main" val="1782175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0EA27-543B-1B31-4ABF-D87F2FCD4A5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B2E8161-5C6E-0FFC-FB46-64CDE3BDFAAC}"/>
              </a:ext>
            </a:extLst>
          </p:cNvPr>
          <p:cNvSpPr>
            <a:spLocks noGrp="1"/>
          </p:cNvSpPr>
          <p:nvPr>
            <p:ph type="title"/>
          </p:nvPr>
        </p:nvSpPr>
        <p:spPr/>
        <p:txBody>
          <a:bodyPr/>
          <a:lstStyle/>
          <a:p>
            <a:r>
              <a:rPr lang="it-IT" dirty="0"/>
              <a:t>Esempio 2</a:t>
            </a:r>
          </a:p>
        </p:txBody>
      </p:sp>
      <p:sp>
        <p:nvSpPr>
          <p:cNvPr id="4" name="Segnaposto testo 3">
            <a:extLst>
              <a:ext uri="{FF2B5EF4-FFF2-40B4-BE49-F238E27FC236}">
                <a16:creationId xmlns:a16="http://schemas.microsoft.com/office/drawing/2014/main" id="{BAA20039-6B93-4F2C-75A7-D4DDE1F4DEA1}"/>
              </a:ext>
            </a:extLst>
          </p:cNvPr>
          <p:cNvSpPr>
            <a:spLocks noGrp="1"/>
          </p:cNvSpPr>
          <p:nvPr>
            <p:ph type="body" sz="half" idx="2"/>
          </p:nvPr>
        </p:nvSpPr>
        <p:spPr/>
        <p:txBody>
          <a:bodyPr/>
          <a:lstStyle/>
          <a:p>
            <a:r>
              <a:rPr lang="it-IT" dirty="0"/>
              <a:t>Altri algoritmi di apprendimento supervisionato e non</a:t>
            </a:r>
          </a:p>
        </p:txBody>
      </p:sp>
      <p:pic>
        <p:nvPicPr>
          <p:cNvPr id="5" name="Immagine 4">
            <a:extLst>
              <a:ext uri="{FF2B5EF4-FFF2-40B4-BE49-F238E27FC236}">
                <a16:creationId xmlns:a16="http://schemas.microsoft.com/office/drawing/2014/main" id="{5594C3C7-CBE5-E599-DF1B-E9C6C2FB95E8}"/>
              </a:ext>
            </a:extLst>
          </p:cNvPr>
          <p:cNvPicPr>
            <a:picLocks noChangeAspect="1"/>
          </p:cNvPicPr>
          <p:nvPr/>
        </p:nvPicPr>
        <p:blipFill>
          <a:blip r:embed="rId2"/>
          <a:stretch>
            <a:fillRect/>
          </a:stretch>
        </p:blipFill>
        <p:spPr>
          <a:xfrm>
            <a:off x="1503860" y="1185045"/>
            <a:ext cx="3787468" cy="3368332"/>
          </a:xfrm>
          <a:prstGeom prst="rect">
            <a:avLst/>
          </a:prstGeom>
        </p:spPr>
      </p:pic>
      <p:pic>
        <p:nvPicPr>
          <p:cNvPr id="7" name="Immagine 6">
            <a:extLst>
              <a:ext uri="{FF2B5EF4-FFF2-40B4-BE49-F238E27FC236}">
                <a16:creationId xmlns:a16="http://schemas.microsoft.com/office/drawing/2014/main" id="{68B51A55-7E72-A514-D16E-AB4EF8E50F28}"/>
              </a:ext>
            </a:extLst>
          </p:cNvPr>
          <p:cNvPicPr>
            <a:picLocks noChangeAspect="1"/>
          </p:cNvPicPr>
          <p:nvPr/>
        </p:nvPicPr>
        <p:blipFill>
          <a:blip r:embed="rId3"/>
          <a:stretch>
            <a:fillRect/>
          </a:stretch>
        </p:blipFill>
        <p:spPr>
          <a:xfrm>
            <a:off x="6553793" y="1246010"/>
            <a:ext cx="4419983" cy="3246401"/>
          </a:xfrm>
          <a:prstGeom prst="rect">
            <a:avLst/>
          </a:prstGeom>
        </p:spPr>
      </p:pic>
    </p:spTree>
    <p:extLst>
      <p:ext uri="{BB962C8B-B14F-4D97-AF65-F5344CB8AC3E}">
        <p14:creationId xmlns:p14="http://schemas.microsoft.com/office/powerpoint/2010/main" val="2514990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CCB4F6A-3FB0-45A7-A3B1-7549CE0FE1C4}"/>
              </a:ext>
            </a:extLst>
          </p:cNvPr>
          <p:cNvSpPr>
            <a:spLocks noGrp="1"/>
          </p:cNvSpPr>
          <p:nvPr>
            <p:ph type="title"/>
          </p:nvPr>
        </p:nvSpPr>
        <p:spPr/>
        <p:txBody>
          <a:bodyPr/>
          <a:lstStyle/>
          <a:p>
            <a:r>
              <a:rPr lang="it-IT" b="1" dirty="0"/>
              <a:t>Decisioni guidate dai dati</a:t>
            </a:r>
          </a:p>
        </p:txBody>
      </p:sp>
      <p:sp>
        <p:nvSpPr>
          <p:cNvPr id="3" name="Segnaposto contenuto 2">
            <a:extLst>
              <a:ext uri="{FF2B5EF4-FFF2-40B4-BE49-F238E27FC236}">
                <a16:creationId xmlns:a16="http://schemas.microsoft.com/office/drawing/2014/main" id="{E3D5D9BF-33C1-5638-3D76-49BAFDA2DB6D}"/>
              </a:ext>
            </a:extLst>
          </p:cNvPr>
          <p:cNvSpPr>
            <a:spLocks noGrp="1"/>
          </p:cNvSpPr>
          <p:nvPr>
            <p:ph idx="1"/>
          </p:nvPr>
        </p:nvSpPr>
        <p:spPr/>
        <p:txBody>
          <a:bodyPr/>
          <a:lstStyle/>
          <a:p>
            <a:pPr marL="0" indent="0">
              <a:buNone/>
            </a:pPr>
            <a:r>
              <a:rPr lang="it-IT" dirty="0"/>
              <a:t>Le aziende prendono decisioni ogni giorno su:</a:t>
            </a:r>
          </a:p>
          <a:p>
            <a:pPr marL="713232" lvl="1" indent="-457200">
              <a:buFont typeface="+mj-lt"/>
              <a:buAutoNum type="arabicPeriod"/>
            </a:pPr>
            <a:r>
              <a:rPr lang="it-IT" dirty="0"/>
              <a:t>Produzione </a:t>
            </a:r>
          </a:p>
          <a:p>
            <a:pPr marL="713232" lvl="1" indent="-457200">
              <a:buFont typeface="+mj-lt"/>
              <a:buAutoNum type="arabicPeriod"/>
            </a:pPr>
            <a:r>
              <a:rPr lang="it-IT" dirty="0"/>
              <a:t>Manutenzione </a:t>
            </a:r>
          </a:p>
          <a:p>
            <a:pPr marL="713232" lvl="1" indent="-457200">
              <a:buFont typeface="+mj-lt"/>
              <a:buAutoNum type="arabicPeriod"/>
            </a:pPr>
            <a:r>
              <a:rPr lang="it-IT" dirty="0"/>
              <a:t>Qualità </a:t>
            </a:r>
          </a:p>
          <a:p>
            <a:pPr marL="713232" lvl="1" indent="-457200">
              <a:buFont typeface="+mj-lt"/>
              <a:buAutoNum type="arabicPeriod"/>
            </a:pPr>
            <a:r>
              <a:rPr lang="it-IT" dirty="0"/>
              <a:t>Magazzino </a:t>
            </a:r>
          </a:p>
          <a:p>
            <a:pPr marL="713232" lvl="1" indent="-457200">
              <a:buFont typeface="+mj-lt"/>
              <a:buAutoNum type="arabicPeriod"/>
            </a:pPr>
            <a:r>
              <a:rPr lang="it-IT" dirty="0"/>
              <a:t>Pianificazione </a:t>
            </a:r>
          </a:p>
          <a:p>
            <a:pPr marL="0" indent="0">
              <a:buNone/>
            </a:pPr>
            <a:r>
              <a:rPr lang="it-IT" dirty="0"/>
              <a:t>L'</a:t>
            </a:r>
            <a:r>
              <a:rPr lang="it-IT" b="1" dirty="0"/>
              <a:t>Intelligenza Artificiale (IA)</a:t>
            </a:r>
            <a:r>
              <a:rPr lang="it-IT" dirty="0"/>
              <a:t> supporta queste decisioni trasformando i dati in informazioni utili.</a:t>
            </a:r>
          </a:p>
        </p:txBody>
      </p:sp>
    </p:spTree>
    <p:extLst>
      <p:ext uri="{BB962C8B-B14F-4D97-AF65-F5344CB8AC3E}">
        <p14:creationId xmlns:p14="http://schemas.microsoft.com/office/powerpoint/2010/main" val="461356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0709B5-58D8-E252-BD05-346EAB9013EC}"/>
              </a:ext>
            </a:extLst>
          </p:cNvPr>
          <p:cNvSpPr>
            <a:spLocks noGrp="1"/>
          </p:cNvSpPr>
          <p:nvPr>
            <p:ph type="title"/>
          </p:nvPr>
        </p:nvSpPr>
        <p:spPr/>
        <p:txBody>
          <a:bodyPr/>
          <a:lstStyle/>
          <a:p>
            <a:r>
              <a:rPr lang="it-IT" b="1" dirty="0"/>
              <a:t>Come l'IA impara dai dati</a:t>
            </a:r>
          </a:p>
        </p:txBody>
      </p:sp>
      <p:sp>
        <p:nvSpPr>
          <p:cNvPr id="3" name="Segnaposto contenuto 2">
            <a:extLst>
              <a:ext uri="{FF2B5EF4-FFF2-40B4-BE49-F238E27FC236}">
                <a16:creationId xmlns:a16="http://schemas.microsoft.com/office/drawing/2014/main" id="{618DB90B-E774-423C-9A01-0B2595E3E0DA}"/>
              </a:ext>
            </a:extLst>
          </p:cNvPr>
          <p:cNvSpPr>
            <a:spLocks noGrp="1"/>
          </p:cNvSpPr>
          <p:nvPr>
            <p:ph idx="1"/>
          </p:nvPr>
        </p:nvSpPr>
        <p:spPr/>
        <p:txBody>
          <a:bodyPr/>
          <a:lstStyle/>
          <a:p>
            <a:pPr marL="0" indent="0">
              <a:buNone/>
            </a:pPr>
            <a:r>
              <a:rPr lang="it-IT" dirty="0"/>
              <a:t>Il </a:t>
            </a:r>
            <a:r>
              <a:rPr lang="it-IT" b="1" dirty="0"/>
              <a:t>Machine Learning</a:t>
            </a:r>
            <a:r>
              <a:rPr lang="it-IT" dirty="0"/>
              <a:t> è una branca dell'IA che consente ai sistemi di apprendere dai dati senza essere programmati con regole fisse.</a:t>
            </a:r>
          </a:p>
          <a:p>
            <a:pPr marL="0" indent="0">
              <a:buNone/>
            </a:pPr>
            <a:r>
              <a:rPr lang="it-IT" dirty="0"/>
              <a:t>Dati -&gt; Machine Learning -&gt; Modello predittivo -&gt; Decisioni migliori</a:t>
            </a:r>
          </a:p>
          <a:p>
            <a:pPr marL="0" indent="0">
              <a:buNone/>
            </a:pPr>
            <a:r>
              <a:rPr lang="it-IT" b="1" dirty="0"/>
              <a:t>Esempi:</a:t>
            </a:r>
            <a:endParaRPr lang="it-IT" dirty="0"/>
          </a:p>
          <a:p>
            <a:pPr marL="713232" lvl="1" indent="-457200">
              <a:buFont typeface="+mj-lt"/>
              <a:buAutoNum type="arabicPeriod"/>
            </a:pPr>
            <a:r>
              <a:rPr lang="it-IT" dirty="0"/>
              <a:t>Previsione della domanda </a:t>
            </a:r>
          </a:p>
          <a:p>
            <a:pPr marL="713232" lvl="1" indent="-457200">
              <a:buFont typeface="+mj-lt"/>
              <a:buAutoNum type="arabicPeriod"/>
            </a:pPr>
            <a:r>
              <a:rPr lang="it-IT" dirty="0"/>
              <a:t>Manutenzione predittiva </a:t>
            </a:r>
          </a:p>
          <a:p>
            <a:pPr marL="713232" lvl="1" indent="-457200">
              <a:buFont typeface="+mj-lt"/>
              <a:buAutoNum type="arabicPeriod"/>
            </a:pPr>
            <a:r>
              <a:rPr lang="it-IT" dirty="0"/>
              <a:t>Controllo qualità </a:t>
            </a:r>
          </a:p>
          <a:p>
            <a:pPr marL="713232" lvl="1" indent="-457200">
              <a:buFont typeface="+mj-lt"/>
              <a:buAutoNum type="arabicPeriod"/>
            </a:pPr>
            <a:r>
              <a:rPr lang="it-IT" dirty="0"/>
              <a:t>Riduzione degli scarti</a:t>
            </a:r>
          </a:p>
          <a:p>
            <a:pPr marL="0" indent="0">
              <a:buNone/>
            </a:pPr>
            <a:endParaRPr lang="it-IT" dirty="0"/>
          </a:p>
        </p:txBody>
      </p:sp>
    </p:spTree>
    <p:extLst>
      <p:ext uri="{BB962C8B-B14F-4D97-AF65-F5344CB8AC3E}">
        <p14:creationId xmlns:p14="http://schemas.microsoft.com/office/powerpoint/2010/main" val="3605624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435A43-F281-7928-84AA-3F36D215DA59}"/>
              </a:ext>
            </a:extLst>
          </p:cNvPr>
          <p:cNvSpPr>
            <a:spLocks noGrp="1"/>
          </p:cNvSpPr>
          <p:nvPr>
            <p:ph type="title"/>
          </p:nvPr>
        </p:nvSpPr>
        <p:spPr/>
        <p:txBody>
          <a:bodyPr/>
          <a:lstStyle/>
          <a:p>
            <a:r>
              <a:rPr lang="it-IT" b="1" dirty="0"/>
              <a:t>Dal dato al miglioramento continuo</a:t>
            </a:r>
          </a:p>
        </p:txBody>
      </p:sp>
      <p:graphicFrame>
        <p:nvGraphicFramePr>
          <p:cNvPr id="4" name="Segnaposto contenuto 3">
            <a:extLst>
              <a:ext uri="{FF2B5EF4-FFF2-40B4-BE49-F238E27FC236}">
                <a16:creationId xmlns:a16="http://schemas.microsoft.com/office/drawing/2014/main" id="{9AA605CD-F2E1-E1D4-99F7-1943F2E568DB}"/>
              </a:ext>
            </a:extLst>
          </p:cNvPr>
          <p:cNvGraphicFramePr>
            <a:graphicFrameLocks noGrp="1"/>
          </p:cNvGraphicFramePr>
          <p:nvPr>
            <p:ph idx="1"/>
          </p:nvPr>
        </p:nvGraphicFramePr>
        <p:xfrm>
          <a:off x="719137" y="2594032"/>
          <a:ext cx="10753725" cy="1828800"/>
        </p:xfrm>
        <a:graphic>
          <a:graphicData uri="http://schemas.openxmlformats.org/drawingml/2006/table">
            <a:tbl>
              <a:tblPr firstRow="1" firstCol="1">
                <a:tableStyleId>{9D7B26C5-4107-4FEC-AEDC-1716B250A1EF}</a:tableStyleId>
              </a:tblPr>
              <a:tblGrid>
                <a:gridCol w="3584575">
                  <a:extLst>
                    <a:ext uri="{9D8B030D-6E8A-4147-A177-3AD203B41FA5}">
                      <a16:colId xmlns:a16="http://schemas.microsoft.com/office/drawing/2014/main" val="2775318002"/>
                    </a:ext>
                  </a:extLst>
                </a:gridCol>
                <a:gridCol w="3584575">
                  <a:extLst>
                    <a:ext uri="{9D8B030D-6E8A-4147-A177-3AD203B41FA5}">
                      <a16:colId xmlns:a16="http://schemas.microsoft.com/office/drawing/2014/main" val="220627324"/>
                    </a:ext>
                  </a:extLst>
                </a:gridCol>
                <a:gridCol w="3584575">
                  <a:extLst>
                    <a:ext uri="{9D8B030D-6E8A-4147-A177-3AD203B41FA5}">
                      <a16:colId xmlns:a16="http://schemas.microsoft.com/office/drawing/2014/main" val="2386382841"/>
                    </a:ext>
                  </a:extLst>
                </a:gridCol>
              </a:tblGrid>
              <a:tr h="0">
                <a:tc>
                  <a:txBody>
                    <a:bodyPr/>
                    <a:lstStyle/>
                    <a:p>
                      <a:pPr algn="ctr">
                        <a:buNone/>
                      </a:pPr>
                      <a:r>
                        <a:rPr lang="it-IT"/>
                        <a:t>Dati raccolti</a:t>
                      </a:r>
                    </a:p>
                  </a:txBody>
                  <a:tcPr anchor="ctr"/>
                </a:tc>
                <a:tc>
                  <a:txBody>
                    <a:bodyPr/>
                    <a:lstStyle/>
                    <a:p>
                      <a:pPr algn="ctr">
                        <a:buNone/>
                      </a:pPr>
                      <a:r>
                        <a:rPr lang="it-IT"/>
                        <a:t>Machine Learning</a:t>
                      </a:r>
                    </a:p>
                  </a:txBody>
                  <a:tcPr anchor="ctr"/>
                </a:tc>
                <a:tc>
                  <a:txBody>
                    <a:bodyPr/>
                    <a:lstStyle/>
                    <a:p>
                      <a:pPr algn="ctr">
                        <a:buNone/>
                      </a:pPr>
                      <a:r>
                        <a:rPr lang="it-IT"/>
                        <a:t>Decisione</a:t>
                      </a:r>
                    </a:p>
                  </a:txBody>
                  <a:tcPr anchor="ctr"/>
                </a:tc>
                <a:extLst>
                  <a:ext uri="{0D108BD9-81ED-4DB2-BD59-A6C34878D82A}">
                    <a16:rowId xmlns:a16="http://schemas.microsoft.com/office/drawing/2014/main" val="1987612145"/>
                  </a:ext>
                </a:extLst>
              </a:tr>
              <a:tr h="0">
                <a:tc>
                  <a:txBody>
                    <a:bodyPr/>
                    <a:lstStyle/>
                    <a:p>
                      <a:pPr algn="ctr">
                        <a:buNone/>
                      </a:pPr>
                      <a:r>
                        <a:rPr lang="it-IT"/>
                        <a:t>Sensori macchine</a:t>
                      </a:r>
                    </a:p>
                  </a:txBody>
                  <a:tcPr anchor="ctr"/>
                </a:tc>
                <a:tc>
                  <a:txBody>
                    <a:bodyPr/>
                    <a:lstStyle/>
                    <a:p>
                      <a:pPr algn="ctr">
                        <a:buNone/>
                      </a:pPr>
                      <a:r>
                        <a:rPr lang="it-IT"/>
                        <a:t>Prevede guasti</a:t>
                      </a:r>
                    </a:p>
                  </a:txBody>
                  <a:tcPr anchor="ctr"/>
                </a:tc>
                <a:tc>
                  <a:txBody>
                    <a:bodyPr/>
                    <a:lstStyle/>
                    <a:p>
                      <a:pPr algn="ctr">
                        <a:buNone/>
                      </a:pPr>
                      <a:r>
                        <a:rPr lang="it-IT"/>
                        <a:t>Pianifica la manutenzione</a:t>
                      </a:r>
                    </a:p>
                  </a:txBody>
                  <a:tcPr anchor="ctr"/>
                </a:tc>
                <a:extLst>
                  <a:ext uri="{0D108BD9-81ED-4DB2-BD59-A6C34878D82A}">
                    <a16:rowId xmlns:a16="http://schemas.microsoft.com/office/drawing/2014/main" val="429181327"/>
                  </a:ext>
                </a:extLst>
              </a:tr>
              <a:tr h="0">
                <a:tc>
                  <a:txBody>
                    <a:bodyPr/>
                    <a:lstStyle/>
                    <a:p>
                      <a:pPr algn="ctr">
                        <a:buNone/>
                      </a:pPr>
                      <a:r>
                        <a:rPr lang="it-IT"/>
                        <a:t>Produzione</a:t>
                      </a:r>
                    </a:p>
                  </a:txBody>
                  <a:tcPr anchor="ctr"/>
                </a:tc>
                <a:tc>
                  <a:txBody>
                    <a:bodyPr/>
                    <a:lstStyle/>
                    <a:p>
                      <a:pPr algn="ctr">
                        <a:buNone/>
                      </a:pPr>
                      <a:r>
                        <a:rPr lang="it-IT"/>
                        <a:t>Individua anomalie</a:t>
                      </a:r>
                    </a:p>
                  </a:txBody>
                  <a:tcPr anchor="ctr"/>
                </a:tc>
                <a:tc>
                  <a:txBody>
                    <a:bodyPr/>
                    <a:lstStyle/>
                    <a:p>
                      <a:pPr algn="ctr">
                        <a:buNone/>
                      </a:pPr>
                      <a:r>
                        <a:rPr lang="it-IT"/>
                        <a:t>Riduce gli scarti</a:t>
                      </a:r>
                    </a:p>
                  </a:txBody>
                  <a:tcPr anchor="ctr"/>
                </a:tc>
                <a:extLst>
                  <a:ext uri="{0D108BD9-81ED-4DB2-BD59-A6C34878D82A}">
                    <a16:rowId xmlns:a16="http://schemas.microsoft.com/office/drawing/2014/main" val="325157244"/>
                  </a:ext>
                </a:extLst>
              </a:tr>
              <a:tr h="0">
                <a:tc>
                  <a:txBody>
                    <a:bodyPr/>
                    <a:lstStyle/>
                    <a:p>
                      <a:pPr algn="ctr">
                        <a:buNone/>
                      </a:pPr>
                      <a:r>
                        <a:rPr lang="it-IT"/>
                        <a:t>Vendite</a:t>
                      </a:r>
                    </a:p>
                  </a:txBody>
                  <a:tcPr anchor="ctr"/>
                </a:tc>
                <a:tc>
                  <a:txBody>
                    <a:bodyPr/>
                    <a:lstStyle/>
                    <a:p>
                      <a:pPr algn="ctr">
                        <a:buNone/>
                      </a:pPr>
                      <a:r>
                        <a:rPr lang="it-IT"/>
                        <a:t>Prevede la domanda</a:t>
                      </a:r>
                    </a:p>
                  </a:txBody>
                  <a:tcPr anchor="ctr"/>
                </a:tc>
                <a:tc>
                  <a:txBody>
                    <a:bodyPr/>
                    <a:lstStyle/>
                    <a:p>
                      <a:pPr algn="ctr">
                        <a:buNone/>
                      </a:pPr>
                      <a:r>
                        <a:rPr lang="it-IT"/>
                        <a:t>Ottimizza le scorte</a:t>
                      </a:r>
                    </a:p>
                  </a:txBody>
                  <a:tcPr anchor="ctr"/>
                </a:tc>
                <a:extLst>
                  <a:ext uri="{0D108BD9-81ED-4DB2-BD59-A6C34878D82A}">
                    <a16:rowId xmlns:a16="http://schemas.microsoft.com/office/drawing/2014/main" val="1481067327"/>
                  </a:ext>
                </a:extLst>
              </a:tr>
              <a:tr h="0">
                <a:tc>
                  <a:txBody>
                    <a:bodyPr/>
                    <a:lstStyle/>
                    <a:p>
                      <a:pPr algn="ctr">
                        <a:buNone/>
                      </a:pPr>
                      <a:r>
                        <a:rPr lang="it-IT"/>
                        <a:t>Tempi di lavorazione</a:t>
                      </a:r>
                    </a:p>
                  </a:txBody>
                  <a:tcPr anchor="ctr"/>
                </a:tc>
                <a:tc>
                  <a:txBody>
                    <a:bodyPr/>
                    <a:lstStyle/>
                    <a:p>
                      <a:pPr algn="ctr">
                        <a:buNone/>
                      </a:pPr>
                      <a:r>
                        <a:rPr lang="it-IT"/>
                        <a:t>Analizza colli di bottiglia</a:t>
                      </a:r>
                    </a:p>
                  </a:txBody>
                  <a:tcPr anchor="ctr"/>
                </a:tc>
                <a:tc>
                  <a:txBody>
                    <a:bodyPr/>
                    <a:lstStyle/>
                    <a:p>
                      <a:pPr algn="ctr">
                        <a:buNone/>
                      </a:pPr>
                      <a:r>
                        <a:rPr lang="it-IT" dirty="0"/>
                        <a:t>Migliora la pianificazione</a:t>
                      </a:r>
                    </a:p>
                  </a:txBody>
                  <a:tcPr anchor="ctr"/>
                </a:tc>
                <a:extLst>
                  <a:ext uri="{0D108BD9-81ED-4DB2-BD59-A6C34878D82A}">
                    <a16:rowId xmlns:a16="http://schemas.microsoft.com/office/drawing/2014/main" val="2843061629"/>
                  </a:ext>
                </a:extLst>
              </a:tr>
            </a:tbl>
          </a:graphicData>
        </a:graphic>
      </p:graphicFrame>
      <p:sp>
        <p:nvSpPr>
          <p:cNvPr id="6" name="CasellaDiTesto 5">
            <a:extLst>
              <a:ext uri="{FF2B5EF4-FFF2-40B4-BE49-F238E27FC236}">
                <a16:creationId xmlns:a16="http://schemas.microsoft.com/office/drawing/2014/main" id="{3774D94A-CECF-49E8-D6E4-D415B819192B}"/>
              </a:ext>
            </a:extLst>
          </p:cNvPr>
          <p:cNvSpPr txBox="1"/>
          <p:nvPr/>
        </p:nvSpPr>
        <p:spPr>
          <a:xfrm>
            <a:off x="3048785" y="4859133"/>
            <a:ext cx="6094428" cy="923330"/>
          </a:xfrm>
          <a:prstGeom prst="rect">
            <a:avLst/>
          </a:prstGeom>
          <a:noFill/>
        </p:spPr>
        <p:txBody>
          <a:bodyPr wrap="square">
            <a:spAutoFit/>
          </a:bodyPr>
          <a:lstStyle/>
          <a:p>
            <a:pPr>
              <a:buNone/>
            </a:pPr>
            <a:r>
              <a:rPr lang="it-IT" b="1" dirty="0"/>
              <a:t>Messaggio chiave:</a:t>
            </a:r>
            <a:endParaRPr lang="it-IT" dirty="0"/>
          </a:p>
          <a:p>
            <a:pPr>
              <a:buNone/>
            </a:pPr>
            <a:r>
              <a:rPr lang="it-IT" dirty="0"/>
              <a:t>L'IA trasforma i dati operativi in azioni concrete per migliorare efficienza e produttività.</a:t>
            </a:r>
          </a:p>
        </p:txBody>
      </p:sp>
    </p:spTree>
    <p:extLst>
      <p:ext uri="{BB962C8B-B14F-4D97-AF65-F5344CB8AC3E}">
        <p14:creationId xmlns:p14="http://schemas.microsoft.com/office/powerpoint/2010/main" val="2387976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A231435-1091-57B2-6242-AE6FA9641AD6}"/>
              </a:ext>
            </a:extLst>
          </p:cNvPr>
          <p:cNvSpPr>
            <a:spLocks noGrp="1"/>
          </p:cNvSpPr>
          <p:nvPr>
            <p:ph type="title"/>
          </p:nvPr>
        </p:nvSpPr>
        <p:spPr/>
        <p:txBody>
          <a:bodyPr/>
          <a:lstStyle/>
          <a:p>
            <a:r>
              <a:rPr lang="it-IT" b="1" dirty="0"/>
              <a:t>CRISP-DM</a:t>
            </a:r>
          </a:p>
        </p:txBody>
      </p:sp>
      <p:pic>
        <p:nvPicPr>
          <p:cNvPr id="4" name="Immagine 3">
            <a:extLst>
              <a:ext uri="{FF2B5EF4-FFF2-40B4-BE49-F238E27FC236}">
                <a16:creationId xmlns:a16="http://schemas.microsoft.com/office/drawing/2014/main" id="{BE70C387-3E06-5429-6569-E6368BE55FB5}"/>
              </a:ext>
            </a:extLst>
          </p:cNvPr>
          <p:cNvPicPr>
            <a:picLocks noChangeAspect="1"/>
          </p:cNvPicPr>
          <p:nvPr/>
        </p:nvPicPr>
        <p:blipFill>
          <a:blip r:embed="rId2"/>
          <a:stretch>
            <a:fillRect/>
          </a:stretch>
        </p:blipFill>
        <p:spPr>
          <a:xfrm>
            <a:off x="5347465" y="1329179"/>
            <a:ext cx="5992980" cy="4794384"/>
          </a:xfrm>
          <a:prstGeom prst="rect">
            <a:avLst/>
          </a:prstGeom>
        </p:spPr>
      </p:pic>
      <p:sp>
        <p:nvSpPr>
          <p:cNvPr id="5" name="CasellaDiTesto 4">
            <a:extLst>
              <a:ext uri="{FF2B5EF4-FFF2-40B4-BE49-F238E27FC236}">
                <a16:creationId xmlns:a16="http://schemas.microsoft.com/office/drawing/2014/main" id="{797DD683-BD61-A451-C7BE-4F75D4DBB7FE}"/>
              </a:ext>
            </a:extLst>
          </p:cNvPr>
          <p:cNvSpPr txBox="1"/>
          <p:nvPr/>
        </p:nvSpPr>
        <p:spPr>
          <a:xfrm>
            <a:off x="551467" y="2157731"/>
            <a:ext cx="4795998" cy="3693319"/>
          </a:xfrm>
          <a:prstGeom prst="rect">
            <a:avLst/>
          </a:prstGeom>
          <a:noFill/>
        </p:spPr>
        <p:txBody>
          <a:bodyPr wrap="square" rtlCol="0">
            <a:spAutoFit/>
          </a:bodyPr>
          <a:lstStyle/>
          <a:p>
            <a:r>
              <a:rPr lang="it-IT" dirty="0"/>
              <a:t>Il </a:t>
            </a:r>
            <a:r>
              <a:rPr lang="it-IT" b="1" dirty="0"/>
              <a:t>CRISP-DM (Cross-Industry Standard Process for Data Mining)</a:t>
            </a:r>
            <a:r>
              <a:rPr lang="it-IT" dirty="0"/>
              <a:t> è una metodologia strutturata, sviluppata per guidare i progetti di Data Mining e oggi ampiamente adottata anche nei progetti di Machine Learning e Intelligenza Artificiale. Il suo punto di forza è quello di mettere al centro gli </a:t>
            </a:r>
            <a:r>
              <a:rPr lang="it-IT" b="1" dirty="0"/>
              <a:t>obiettivi di business</a:t>
            </a:r>
            <a:r>
              <a:rPr lang="it-IT" dirty="0"/>
              <a:t>, evitando che lo sviluppo di modelli predittivi sia fine a sé stesso. A differenza di un processo lineare, il CRISP-DM è un modello iterativo: i risultati ottenuti possono richiedere di tornare alle fasi precedenti per migliorare dati, modelli o obiettivi, favorendo così un ciclo di apprendimento e miglioramento continuo.</a:t>
            </a:r>
          </a:p>
        </p:txBody>
      </p:sp>
    </p:spTree>
    <p:extLst>
      <p:ext uri="{BB962C8B-B14F-4D97-AF65-F5344CB8AC3E}">
        <p14:creationId xmlns:p14="http://schemas.microsoft.com/office/powerpoint/2010/main" val="2608552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8C5F33-F623-FDF8-9E81-88AE460AB534}"/>
              </a:ext>
            </a:extLst>
          </p:cNvPr>
          <p:cNvSpPr>
            <a:spLocks noGrp="1"/>
          </p:cNvSpPr>
          <p:nvPr>
            <p:ph type="title"/>
          </p:nvPr>
        </p:nvSpPr>
        <p:spPr/>
        <p:txBody>
          <a:bodyPr/>
          <a:lstStyle/>
          <a:p>
            <a:r>
              <a:rPr lang="it-IT" b="1" dirty="0"/>
              <a:t>Ottimizzazione delle scorte di magazzino</a:t>
            </a:r>
            <a:endParaRPr lang="it-IT" dirty="0"/>
          </a:p>
        </p:txBody>
      </p:sp>
      <p:sp>
        <p:nvSpPr>
          <p:cNvPr id="3" name="Segnaposto contenuto 2">
            <a:extLst>
              <a:ext uri="{FF2B5EF4-FFF2-40B4-BE49-F238E27FC236}">
                <a16:creationId xmlns:a16="http://schemas.microsoft.com/office/drawing/2014/main" id="{38C87EA4-F677-9240-6DBB-A8539384ADFB}"/>
              </a:ext>
            </a:extLst>
          </p:cNvPr>
          <p:cNvSpPr>
            <a:spLocks noGrp="1"/>
          </p:cNvSpPr>
          <p:nvPr>
            <p:ph idx="1"/>
          </p:nvPr>
        </p:nvSpPr>
        <p:spPr>
          <a:xfrm>
            <a:off x="676656" y="2011680"/>
            <a:ext cx="6173323" cy="3766185"/>
          </a:xfrm>
        </p:spPr>
        <p:txBody>
          <a:bodyPr>
            <a:normAutofit fontScale="85000" lnSpcReduction="20000"/>
          </a:bodyPr>
          <a:lstStyle/>
          <a:p>
            <a:r>
              <a:rPr lang="it-IT" b="1" dirty="0"/>
              <a:t>Problema di business</a:t>
            </a:r>
            <a:endParaRPr lang="it-IT" dirty="0"/>
          </a:p>
          <a:p>
            <a:pPr lvl="1"/>
            <a:r>
              <a:rPr lang="it-IT" dirty="0"/>
              <a:t>Un magazzino vuole ridurre il </a:t>
            </a:r>
            <a:r>
              <a:rPr lang="it-IT" b="1" dirty="0"/>
              <a:t>capitale immobilizzato in scorte</a:t>
            </a:r>
            <a:r>
              <a:rPr lang="it-IT" dirty="0"/>
              <a:t> senza aumentare gli </a:t>
            </a:r>
            <a:r>
              <a:rPr lang="it-IT" b="1" dirty="0"/>
              <a:t>stock-out</a:t>
            </a:r>
            <a:endParaRPr lang="it-IT" dirty="0"/>
          </a:p>
          <a:p>
            <a:pPr lvl="1"/>
            <a:r>
              <a:rPr lang="it-IT" dirty="0"/>
              <a:t>Prodotto più venduto (SKU singolo), fornitore con lead time fisso di </a:t>
            </a:r>
            <a:r>
              <a:rPr lang="it-IT" b="1" dirty="0"/>
              <a:t>3 giorni</a:t>
            </a:r>
            <a:endParaRPr lang="it-IT" dirty="0"/>
          </a:p>
          <a:p>
            <a:pPr lvl="1"/>
            <a:r>
              <a:rPr lang="it-IT" dirty="0"/>
              <a:t>Oggi si usa un metodo «a occhio» (ordine della media su 7 giorni) → troppo generico e inefficiente</a:t>
            </a:r>
          </a:p>
          <a:p>
            <a:r>
              <a:rPr lang="it-IT" b="1" dirty="0"/>
              <a:t>Obiettivo ML</a:t>
            </a:r>
            <a:endParaRPr lang="it-IT" dirty="0"/>
          </a:p>
          <a:p>
            <a:pPr lvl="1"/>
            <a:r>
              <a:rPr lang="it-IT" dirty="0"/>
              <a:t>Prevedere la domanda giornaliera per calcolare un </a:t>
            </a:r>
            <a:r>
              <a:rPr lang="it-IT" b="1" dirty="0"/>
              <a:t>punto di riordino</a:t>
            </a:r>
            <a:r>
              <a:rPr lang="it-IT" dirty="0"/>
              <a:t> dinamico e intelligente</a:t>
            </a:r>
          </a:p>
          <a:p>
            <a:r>
              <a:rPr lang="it-IT" b="1" dirty="0"/>
              <a:t>Perché CRISP-DM</a:t>
            </a:r>
            <a:endParaRPr lang="it-IT" dirty="0"/>
          </a:p>
          <a:p>
            <a:pPr lvl="1"/>
            <a:r>
              <a:rPr lang="it-IT" dirty="0"/>
              <a:t>Perché un progetto ML non è solo modellazione: serve comprendere il business, i dati e l’impatto reale</a:t>
            </a:r>
          </a:p>
          <a:p>
            <a:endParaRPr lang="it-IT" dirty="0"/>
          </a:p>
        </p:txBody>
      </p:sp>
      <p:pic>
        <p:nvPicPr>
          <p:cNvPr id="5" name="Immagine 4">
            <a:extLst>
              <a:ext uri="{FF2B5EF4-FFF2-40B4-BE49-F238E27FC236}">
                <a16:creationId xmlns:a16="http://schemas.microsoft.com/office/drawing/2014/main" id="{F4776058-4CB6-E897-B700-62B91B09F937}"/>
              </a:ext>
            </a:extLst>
          </p:cNvPr>
          <p:cNvPicPr>
            <a:picLocks noChangeAspect="1"/>
          </p:cNvPicPr>
          <p:nvPr/>
        </p:nvPicPr>
        <p:blipFill>
          <a:blip r:embed="rId2"/>
          <a:stretch>
            <a:fillRect/>
          </a:stretch>
        </p:blipFill>
        <p:spPr>
          <a:xfrm>
            <a:off x="7829048" y="2338070"/>
            <a:ext cx="3143250" cy="2362200"/>
          </a:xfrm>
          <a:prstGeom prst="rect">
            <a:avLst/>
          </a:prstGeom>
        </p:spPr>
      </p:pic>
    </p:spTree>
    <p:extLst>
      <p:ext uri="{BB962C8B-B14F-4D97-AF65-F5344CB8AC3E}">
        <p14:creationId xmlns:p14="http://schemas.microsoft.com/office/powerpoint/2010/main" val="915060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DBAA7F2-44A9-0EDE-6C75-261CB312443A}"/>
              </a:ext>
            </a:extLst>
          </p:cNvPr>
          <p:cNvSpPr>
            <a:spLocks noGrp="1"/>
          </p:cNvSpPr>
          <p:nvPr>
            <p:ph type="title"/>
          </p:nvPr>
        </p:nvSpPr>
        <p:spPr/>
        <p:txBody>
          <a:bodyPr/>
          <a:lstStyle/>
          <a:p>
            <a:r>
              <a:rPr lang="it-IT" b="1" dirty="0"/>
              <a:t>Dataset utilizzato: Rossmann Store</a:t>
            </a:r>
          </a:p>
        </p:txBody>
      </p:sp>
      <p:sp>
        <p:nvSpPr>
          <p:cNvPr id="3" name="Segnaposto contenuto 2">
            <a:extLst>
              <a:ext uri="{FF2B5EF4-FFF2-40B4-BE49-F238E27FC236}">
                <a16:creationId xmlns:a16="http://schemas.microsoft.com/office/drawing/2014/main" id="{2BE21341-B014-FA17-F32F-42A579272A50}"/>
              </a:ext>
            </a:extLst>
          </p:cNvPr>
          <p:cNvSpPr>
            <a:spLocks noGrp="1"/>
          </p:cNvSpPr>
          <p:nvPr>
            <p:ph idx="1"/>
          </p:nvPr>
        </p:nvSpPr>
        <p:spPr/>
        <p:txBody>
          <a:bodyPr/>
          <a:lstStyle/>
          <a:p>
            <a:r>
              <a:rPr lang="it-IT" dirty="0"/>
              <a:t>Disponibile qui: </a:t>
            </a:r>
            <a:r>
              <a:rPr lang="it-IT" dirty="0">
                <a:hlinkClick r:id="rId2"/>
              </a:rPr>
              <a:t>https://www.kaggle.com/c/rossmann-store-sales</a:t>
            </a:r>
            <a:endParaRPr lang="it-IT" dirty="0"/>
          </a:p>
          <a:p>
            <a:r>
              <a:rPr lang="it-IT" dirty="0"/>
              <a:t>I dati sono stati filtrati prendendo in considerazione solo </a:t>
            </a:r>
            <a:r>
              <a:rPr lang="it-IT" b="1" dirty="0"/>
              <a:t>1 negozio</a:t>
            </a:r>
            <a:r>
              <a:rPr lang="it-IT" dirty="0"/>
              <a:t>, solamente nei giorni di apertura.</a:t>
            </a:r>
          </a:p>
          <a:p>
            <a:endParaRPr lang="it-IT" dirty="0"/>
          </a:p>
        </p:txBody>
      </p:sp>
      <p:graphicFrame>
        <p:nvGraphicFramePr>
          <p:cNvPr id="4" name="Tabella 3">
            <a:extLst>
              <a:ext uri="{FF2B5EF4-FFF2-40B4-BE49-F238E27FC236}">
                <a16:creationId xmlns:a16="http://schemas.microsoft.com/office/drawing/2014/main" id="{A21E59FB-D70F-F349-8311-E435C5B2A0DA}"/>
              </a:ext>
            </a:extLst>
          </p:cNvPr>
          <p:cNvGraphicFramePr>
            <a:graphicFrameLocks noGrp="1"/>
          </p:cNvGraphicFramePr>
          <p:nvPr>
            <p:extLst>
              <p:ext uri="{D42A27DB-BD31-4B8C-83A1-F6EECF244321}">
                <p14:modId xmlns:p14="http://schemas.microsoft.com/office/powerpoint/2010/main" val="1670183119"/>
              </p:ext>
            </p:extLst>
          </p:nvPr>
        </p:nvGraphicFramePr>
        <p:xfrm>
          <a:off x="3535680" y="3669878"/>
          <a:ext cx="5120640" cy="1484376"/>
        </p:xfrm>
        <a:graphic>
          <a:graphicData uri="http://schemas.openxmlformats.org/drawingml/2006/table">
            <a:tbl>
              <a:tblPr/>
              <a:tblGrid>
                <a:gridCol w="2560320">
                  <a:extLst>
                    <a:ext uri="{9D8B030D-6E8A-4147-A177-3AD203B41FA5}">
                      <a16:colId xmlns:a16="http://schemas.microsoft.com/office/drawing/2014/main" val="4083854367"/>
                    </a:ext>
                  </a:extLst>
                </a:gridCol>
                <a:gridCol w="2560320">
                  <a:extLst>
                    <a:ext uri="{9D8B030D-6E8A-4147-A177-3AD203B41FA5}">
                      <a16:colId xmlns:a16="http://schemas.microsoft.com/office/drawing/2014/main" val="2646765969"/>
                    </a:ext>
                  </a:extLst>
                </a:gridCol>
              </a:tblGrid>
              <a:tr h="0">
                <a:tc>
                  <a:txBody>
                    <a:bodyPr/>
                    <a:lstStyle/>
                    <a:p>
                      <a:pPr algn="l">
                        <a:lnSpc>
                          <a:spcPts val="1875"/>
                        </a:lnSpc>
                        <a:buNone/>
                      </a:pPr>
                      <a:r>
                        <a:rPr lang="it-IT" sz="1125" b="0" i="0">
                          <a:solidFill>
                            <a:srgbClr val="0F1115"/>
                          </a:solidFill>
                          <a:effectLst/>
                          <a:latin typeface="quote-cjk-patch"/>
                        </a:rPr>
                        <a:t>Caratteristica</a:t>
                      </a:r>
                    </a:p>
                  </a:txBody>
                  <a:tcPr marR="121920" marT="76200" marB="76200" anchor="ctr">
                    <a:lnL>
                      <a:noFill/>
                    </a:lnL>
                    <a:lnR>
                      <a:noFill/>
                    </a:lnR>
                    <a:lnT>
                      <a:noFill/>
                    </a:lnT>
                    <a:lnB>
                      <a:noFill/>
                    </a:lnB>
                    <a:solidFill>
                      <a:srgbClr val="FFFFFF"/>
                    </a:solidFill>
                  </a:tcPr>
                </a:tc>
                <a:tc>
                  <a:txBody>
                    <a:bodyPr/>
                    <a:lstStyle/>
                    <a:p>
                      <a:pPr algn="l">
                        <a:lnSpc>
                          <a:spcPts val="1875"/>
                        </a:lnSpc>
                        <a:buNone/>
                      </a:pPr>
                      <a:r>
                        <a:rPr lang="it-IT" sz="1125" b="0" i="0">
                          <a:solidFill>
                            <a:srgbClr val="0F1115"/>
                          </a:solidFill>
                          <a:effectLst/>
                          <a:latin typeface="quote-cjk-patch"/>
                        </a:rPr>
                        <a:t>Dettaglio</a:t>
                      </a:r>
                    </a:p>
                  </a:txBody>
                  <a:tcPr marL="121920" marR="121920" marT="76200" marB="76200" anchor="ctr">
                    <a:lnL>
                      <a:noFill/>
                    </a:lnL>
                    <a:lnR>
                      <a:noFill/>
                    </a:lnR>
                    <a:lnT>
                      <a:noFill/>
                    </a:lnT>
                    <a:lnB>
                      <a:noFill/>
                    </a:lnB>
                    <a:solidFill>
                      <a:srgbClr val="FFFFFF"/>
                    </a:solidFill>
                  </a:tcPr>
                </a:tc>
                <a:extLst>
                  <a:ext uri="{0D108BD9-81ED-4DB2-BD59-A6C34878D82A}">
                    <a16:rowId xmlns:a16="http://schemas.microsoft.com/office/drawing/2014/main" val="3519124275"/>
                  </a:ext>
                </a:extLst>
              </a:tr>
              <a:tr h="0">
                <a:tc>
                  <a:txBody>
                    <a:bodyPr/>
                    <a:lstStyle/>
                    <a:p>
                      <a:pPr algn="l">
                        <a:lnSpc>
                          <a:spcPts val="1875"/>
                        </a:lnSpc>
                        <a:buNone/>
                      </a:pPr>
                      <a:r>
                        <a:rPr lang="it-IT" sz="1125" b="1" i="0">
                          <a:solidFill>
                            <a:srgbClr val="0F1115"/>
                          </a:solidFill>
                          <a:effectLst/>
                          <a:latin typeface="quote-cjk-patch"/>
                        </a:rPr>
                        <a:t>Periodo</a:t>
                      </a:r>
                      <a:endParaRPr lang="it-IT" sz="1125" b="0" i="0">
                        <a:solidFill>
                          <a:srgbClr val="0F1115"/>
                        </a:solidFill>
                        <a:effectLst/>
                        <a:latin typeface="quote-cjk-patch"/>
                      </a:endParaRPr>
                    </a:p>
                  </a:txBody>
                  <a:tcPr marR="121920" marT="76200" marB="76200" anchor="ctr">
                    <a:lnL>
                      <a:noFill/>
                    </a:lnL>
                    <a:lnR>
                      <a:noFill/>
                    </a:lnR>
                    <a:lnT>
                      <a:noFill/>
                    </a:lnT>
                    <a:lnB>
                      <a:noFill/>
                    </a:lnB>
                    <a:solidFill>
                      <a:srgbClr val="FFFFFF"/>
                    </a:solidFill>
                  </a:tcPr>
                </a:tc>
                <a:tc>
                  <a:txBody>
                    <a:bodyPr/>
                    <a:lstStyle/>
                    <a:p>
                      <a:pPr algn="l">
                        <a:lnSpc>
                          <a:spcPts val="1875"/>
                        </a:lnSpc>
                        <a:buNone/>
                      </a:pPr>
                      <a:r>
                        <a:rPr lang="it-IT" sz="1125" b="0" i="0">
                          <a:solidFill>
                            <a:srgbClr val="0F1115"/>
                          </a:solidFill>
                          <a:effectLst/>
                          <a:latin typeface="quote-cjk-patch"/>
                        </a:rPr>
                        <a:t>2 gennaio 2013 – 31 luglio 2015</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3803347990"/>
                  </a:ext>
                </a:extLst>
              </a:tr>
              <a:tr h="0">
                <a:tc>
                  <a:txBody>
                    <a:bodyPr/>
                    <a:lstStyle/>
                    <a:p>
                      <a:pPr algn="l">
                        <a:lnSpc>
                          <a:spcPts val="1875"/>
                        </a:lnSpc>
                        <a:buNone/>
                      </a:pPr>
                      <a:r>
                        <a:rPr lang="it-IT" sz="1125" b="1" i="0">
                          <a:solidFill>
                            <a:srgbClr val="0F1115"/>
                          </a:solidFill>
                          <a:effectLst/>
                          <a:latin typeface="quote-cjk-patch"/>
                        </a:rPr>
                        <a:t>Record</a:t>
                      </a:r>
                      <a:endParaRPr lang="it-IT" sz="1125" b="0" i="0">
                        <a:solidFill>
                          <a:srgbClr val="0F1115"/>
                        </a:solidFill>
                        <a:effectLst/>
                        <a:latin typeface="quote-cjk-patch"/>
                      </a:endParaRPr>
                    </a:p>
                  </a:txBody>
                  <a:tcPr marR="121920" marT="76200" marB="76200" anchor="ctr">
                    <a:lnL>
                      <a:noFill/>
                    </a:lnL>
                    <a:lnR>
                      <a:noFill/>
                    </a:lnR>
                    <a:lnT>
                      <a:noFill/>
                    </a:lnT>
                    <a:lnB>
                      <a:noFill/>
                    </a:lnB>
                    <a:solidFill>
                      <a:srgbClr val="FFFFFF"/>
                    </a:solidFill>
                  </a:tcPr>
                </a:tc>
                <a:tc>
                  <a:txBody>
                    <a:bodyPr/>
                    <a:lstStyle/>
                    <a:p>
                      <a:pPr algn="l">
                        <a:lnSpc>
                          <a:spcPts val="1875"/>
                        </a:lnSpc>
                        <a:buNone/>
                      </a:pPr>
                      <a:r>
                        <a:rPr lang="it-IT" sz="1125" b="0" i="0">
                          <a:solidFill>
                            <a:srgbClr val="0F1115"/>
                          </a:solidFill>
                          <a:effectLst/>
                          <a:latin typeface="quote-cjk-patch"/>
                        </a:rPr>
                        <a:t>781 giorni</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730546072"/>
                  </a:ext>
                </a:extLst>
              </a:tr>
              <a:tr h="0">
                <a:tc>
                  <a:txBody>
                    <a:bodyPr/>
                    <a:lstStyle/>
                    <a:p>
                      <a:pPr algn="l">
                        <a:lnSpc>
                          <a:spcPts val="1875"/>
                        </a:lnSpc>
                        <a:buNone/>
                      </a:pPr>
                      <a:r>
                        <a:rPr lang="it-IT" sz="1125" b="1" i="0">
                          <a:solidFill>
                            <a:srgbClr val="0F1115"/>
                          </a:solidFill>
                          <a:effectLst/>
                          <a:latin typeface="quote-cjk-patch"/>
                        </a:rPr>
                        <a:t>Variabili</a:t>
                      </a:r>
                      <a:endParaRPr lang="it-IT" sz="1125" b="0" i="0">
                        <a:solidFill>
                          <a:srgbClr val="0F1115"/>
                        </a:solidFill>
                        <a:effectLst/>
                        <a:latin typeface="quote-cjk-patch"/>
                      </a:endParaRPr>
                    </a:p>
                  </a:txBody>
                  <a:tcPr marR="121920" marT="76200" marB="76200" anchor="ctr">
                    <a:lnL>
                      <a:noFill/>
                    </a:lnL>
                    <a:lnR>
                      <a:noFill/>
                    </a:lnR>
                    <a:lnT>
                      <a:noFill/>
                    </a:lnT>
                    <a:lnB>
                      <a:noFill/>
                    </a:lnB>
                    <a:solidFill>
                      <a:srgbClr val="FFFFFF"/>
                    </a:solidFill>
                  </a:tcPr>
                </a:tc>
                <a:tc>
                  <a:txBody>
                    <a:bodyPr/>
                    <a:lstStyle/>
                    <a:p>
                      <a:pPr algn="l">
                        <a:lnSpc>
                          <a:spcPts val="1875"/>
                        </a:lnSpc>
                        <a:buNone/>
                      </a:pPr>
                      <a:r>
                        <a:rPr lang="it-IT" sz="1125" b="0" i="0" dirty="0">
                          <a:solidFill>
                            <a:srgbClr val="0F1115"/>
                          </a:solidFill>
                          <a:effectLst/>
                          <a:latin typeface="quote-cjk-patch"/>
                        </a:rPr>
                        <a:t>data, vendite, promo</a:t>
                      </a:r>
                    </a:p>
                  </a:txBody>
                  <a:tcPr marL="121920" marT="76200" marB="76200" anchor="ctr">
                    <a:lnL>
                      <a:noFill/>
                    </a:lnL>
                    <a:lnR>
                      <a:noFill/>
                    </a:lnR>
                    <a:lnT>
                      <a:noFill/>
                    </a:lnT>
                    <a:lnB>
                      <a:noFill/>
                    </a:lnB>
                    <a:solidFill>
                      <a:srgbClr val="FFFFFF"/>
                    </a:solidFill>
                  </a:tcPr>
                </a:tc>
                <a:extLst>
                  <a:ext uri="{0D108BD9-81ED-4DB2-BD59-A6C34878D82A}">
                    <a16:rowId xmlns:a16="http://schemas.microsoft.com/office/drawing/2014/main" val="2511759407"/>
                  </a:ext>
                </a:extLst>
              </a:tr>
            </a:tbl>
          </a:graphicData>
        </a:graphic>
      </p:graphicFrame>
    </p:spTree>
    <p:extLst>
      <p:ext uri="{BB962C8B-B14F-4D97-AF65-F5344CB8AC3E}">
        <p14:creationId xmlns:p14="http://schemas.microsoft.com/office/powerpoint/2010/main" val="1815567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2E7053-482F-1DFD-D986-986A3E3F564C}"/>
              </a:ext>
            </a:extLst>
          </p:cNvPr>
          <p:cNvSpPr>
            <a:spLocks noGrp="1"/>
          </p:cNvSpPr>
          <p:nvPr>
            <p:ph type="title"/>
          </p:nvPr>
        </p:nvSpPr>
        <p:spPr/>
        <p:txBody>
          <a:bodyPr/>
          <a:lstStyle/>
          <a:p>
            <a:r>
              <a:rPr lang="it-IT" b="1" dirty="0"/>
              <a:t>FASE 1: Business </a:t>
            </a:r>
            <a:r>
              <a:rPr lang="it-IT" b="1" dirty="0" err="1"/>
              <a:t>Understanding</a:t>
            </a:r>
            <a:endParaRPr lang="it-IT" b="1" dirty="0"/>
          </a:p>
        </p:txBody>
      </p:sp>
      <p:sp>
        <p:nvSpPr>
          <p:cNvPr id="3" name="Segnaposto contenuto 2">
            <a:extLst>
              <a:ext uri="{FF2B5EF4-FFF2-40B4-BE49-F238E27FC236}">
                <a16:creationId xmlns:a16="http://schemas.microsoft.com/office/drawing/2014/main" id="{AB42B7F7-C8F1-139B-9885-92AE348D6475}"/>
              </a:ext>
            </a:extLst>
          </p:cNvPr>
          <p:cNvSpPr>
            <a:spLocks noGrp="1"/>
          </p:cNvSpPr>
          <p:nvPr>
            <p:ph sz="half" idx="1"/>
          </p:nvPr>
        </p:nvSpPr>
        <p:spPr/>
        <p:txBody>
          <a:bodyPr>
            <a:normAutofit/>
          </a:bodyPr>
          <a:lstStyle/>
          <a:p>
            <a:r>
              <a:rPr lang="it-IT" b="1" dirty="0"/>
              <a:t>Domanda chiave</a:t>
            </a:r>
            <a:br>
              <a:rPr lang="it-IT" dirty="0"/>
            </a:br>
            <a:r>
              <a:rPr lang="it-IT" i="1" dirty="0"/>
              <a:t>Quanto ordinare e quando?</a:t>
            </a:r>
            <a:endParaRPr lang="it-IT" dirty="0"/>
          </a:p>
          <a:p>
            <a:r>
              <a:rPr lang="it-IT" b="1" dirty="0"/>
              <a:t>KPI di successo</a:t>
            </a:r>
            <a:endParaRPr lang="it-IT" dirty="0"/>
          </a:p>
          <a:p>
            <a:pPr marL="457200" lvl="0" indent="-457200">
              <a:buFont typeface="+mj-lt"/>
              <a:buAutoNum type="arabicPeriod"/>
            </a:pPr>
            <a:r>
              <a:rPr lang="it-IT" b="1" dirty="0"/>
              <a:t>Errore di previsione</a:t>
            </a:r>
            <a:r>
              <a:rPr lang="it-IT" dirty="0"/>
              <a:t> (MAE)</a:t>
            </a:r>
          </a:p>
          <a:p>
            <a:pPr marL="457200" lvl="0" indent="-457200">
              <a:buFont typeface="+mj-lt"/>
              <a:buAutoNum type="arabicPeriod"/>
            </a:pPr>
            <a:r>
              <a:rPr lang="it-IT" b="1" dirty="0"/>
              <a:t>Riduzione dei giorni di stock-out</a:t>
            </a:r>
            <a:r>
              <a:rPr lang="it-IT" dirty="0"/>
              <a:t> </a:t>
            </a:r>
          </a:p>
          <a:p>
            <a:pPr marL="457200" lvl="0" indent="-457200">
              <a:buFont typeface="+mj-lt"/>
              <a:buAutoNum type="arabicPeriod"/>
            </a:pPr>
            <a:r>
              <a:rPr lang="it-IT" b="1" dirty="0"/>
              <a:t>Riduzione della scorta media</a:t>
            </a:r>
            <a:endParaRPr lang="it-IT" dirty="0"/>
          </a:p>
          <a:p>
            <a:endParaRPr lang="it-IT" dirty="0"/>
          </a:p>
        </p:txBody>
      </p:sp>
      <p:sp>
        <p:nvSpPr>
          <p:cNvPr id="4" name="Segnaposto contenuto 3">
            <a:extLst>
              <a:ext uri="{FF2B5EF4-FFF2-40B4-BE49-F238E27FC236}">
                <a16:creationId xmlns:a16="http://schemas.microsoft.com/office/drawing/2014/main" id="{B9AF318B-3421-41A0-64D6-0537EBB23041}"/>
              </a:ext>
            </a:extLst>
          </p:cNvPr>
          <p:cNvSpPr>
            <a:spLocks noGrp="1"/>
          </p:cNvSpPr>
          <p:nvPr>
            <p:ph sz="half" idx="2"/>
          </p:nvPr>
        </p:nvSpPr>
        <p:spPr>
          <a:xfrm>
            <a:off x="5359528" y="1998134"/>
            <a:ext cx="6479546" cy="3767328"/>
          </a:xfrm>
        </p:spPr>
        <p:txBody>
          <a:bodyPr>
            <a:normAutofit/>
          </a:bodyPr>
          <a:lstStyle/>
          <a:p>
            <a:r>
              <a:rPr lang="it-IT" b="1" dirty="0"/>
              <a:t>Vincoli</a:t>
            </a:r>
            <a:endParaRPr lang="it-IT" dirty="0"/>
          </a:p>
          <a:p>
            <a:pPr lvl="0"/>
            <a:r>
              <a:rPr lang="it-IT" dirty="0"/>
              <a:t>Lead time = 3 giorni</a:t>
            </a:r>
          </a:p>
          <a:p>
            <a:r>
              <a:rPr lang="it-IT" b="1" dirty="0"/>
              <a:t>Regola di business</a:t>
            </a:r>
            <a:endParaRPr lang="it-IT" dirty="0"/>
          </a:p>
          <a:p>
            <a:pPr lvl="0"/>
            <a:r>
              <a:rPr lang="it-IT" dirty="0"/>
              <a:t>Punto di riordino = (previsione × lead time) + scorta di sicurezza</a:t>
            </a:r>
          </a:p>
          <a:p>
            <a:pPr lvl="0"/>
            <a:r>
              <a:rPr lang="it-IT" dirty="0"/>
              <a:t>Scorta di sicurezza = z × </a:t>
            </a:r>
            <a:r>
              <a:rPr lang="it-IT" dirty="0" err="1"/>
              <a:t>std_errore</a:t>
            </a:r>
            <a:r>
              <a:rPr lang="it-IT" dirty="0"/>
              <a:t> × √(lead time)</a:t>
            </a:r>
          </a:p>
          <a:p>
            <a:pPr lvl="0"/>
            <a:r>
              <a:rPr lang="it-IT" dirty="0"/>
              <a:t>z = 1.65 → livello di servizio ~95%</a:t>
            </a:r>
          </a:p>
          <a:p>
            <a:endParaRPr lang="it-IT" dirty="0"/>
          </a:p>
        </p:txBody>
      </p:sp>
    </p:spTree>
    <p:extLst>
      <p:ext uri="{BB962C8B-B14F-4D97-AF65-F5344CB8AC3E}">
        <p14:creationId xmlns:p14="http://schemas.microsoft.com/office/powerpoint/2010/main" val="1464125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D94EB0E-3E1A-6711-28D0-D4FD9D821399}"/>
              </a:ext>
            </a:extLst>
          </p:cNvPr>
          <p:cNvSpPr>
            <a:spLocks noGrp="1"/>
          </p:cNvSpPr>
          <p:nvPr>
            <p:ph type="title"/>
          </p:nvPr>
        </p:nvSpPr>
        <p:spPr/>
        <p:txBody>
          <a:bodyPr/>
          <a:lstStyle/>
          <a:p>
            <a:r>
              <a:rPr lang="it-IT" b="1" dirty="0"/>
              <a:t>FASE 2: Data </a:t>
            </a:r>
            <a:r>
              <a:rPr lang="it-IT" b="1" dirty="0" err="1"/>
              <a:t>Understanding</a:t>
            </a:r>
            <a:endParaRPr lang="it-IT" dirty="0"/>
          </a:p>
        </p:txBody>
      </p:sp>
      <p:sp>
        <p:nvSpPr>
          <p:cNvPr id="3" name="Segnaposto contenuto 2">
            <a:extLst>
              <a:ext uri="{FF2B5EF4-FFF2-40B4-BE49-F238E27FC236}">
                <a16:creationId xmlns:a16="http://schemas.microsoft.com/office/drawing/2014/main" id="{81983B23-058F-894B-61D3-70315E48EF72}"/>
              </a:ext>
            </a:extLst>
          </p:cNvPr>
          <p:cNvSpPr>
            <a:spLocks noGrp="1"/>
          </p:cNvSpPr>
          <p:nvPr>
            <p:ph idx="1"/>
          </p:nvPr>
        </p:nvSpPr>
        <p:spPr/>
        <p:txBody>
          <a:bodyPr/>
          <a:lstStyle/>
          <a:p>
            <a:r>
              <a:rPr lang="it-IT"/>
              <a:t>Cosa vedo dall’analisi esploratoria dati? Quali considerazioni posso fare?</a:t>
            </a:r>
            <a:endParaRPr lang="it-IT" dirty="0"/>
          </a:p>
        </p:txBody>
      </p:sp>
      <p:pic>
        <p:nvPicPr>
          <p:cNvPr id="7" name="Immagine 6">
            <a:extLst>
              <a:ext uri="{FF2B5EF4-FFF2-40B4-BE49-F238E27FC236}">
                <a16:creationId xmlns:a16="http://schemas.microsoft.com/office/drawing/2014/main" id="{AEB48456-7AB0-B5E4-F94E-45ED17C5B0FB}"/>
              </a:ext>
            </a:extLst>
          </p:cNvPr>
          <p:cNvPicPr>
            <a:picLocks noChangeAspect="1"/>
          </p:cNvPicPr>
          <p:nvPr/>
        </p:nvPicPr>
        <p:blipFill>
          <a:blip r:embed="rId2"/>
          <a:stretch>
            <a:fillRect/>
          </a:stretch>
        </p:blipFill>
        <p:spPr>
          <a:xfrm>
            <a:off x="516100" y="2592281"/>
            <a:ext cx="4655425" cy="3766186"/>
          </a:xfrm>
          <a:prstGeom prst="rect">
            <a:avLst/>
          </a:prstGeom>
        </p:spPr>
      </p:pic>
      <p:pic>
        <p:nvPicPr>
          <p:cNvPr id="11" name="Immagine 10">
            <a:extLst>
              <a:ext uri="{FF2B5EF4-FFF2-40B4-BE49-F238E27FC236}">
                <a16:creationId xmlns:a16="http://schemas.microsoft.com/office/drawing/2014/main" id="{926AFF1E-4DD8-9DCB-730D-764301210672}"/>
              </a:ext>
            </a:extLst>
          </p:cNvPr>
          <p:cNvPicPr>
            <a:picLocks noChangeAspect="1"/>
          </p:cNvPicPr>
          <p:nvPr/>
        </p:nvPicPr>
        <p:blipFill>
          <a:blip r:embed="rId3"/>
          <a:stretch>
            <a:fillRect/>
          </a:stretch>
        </p:blipFill>
        <p:spPr>
          <a:xfrm>
            <a:off x="5171525" y="3210418"/>
            <a:ext cx="6363251" cy="2857748"/>
          </a:xfrm>
          <a:prstGeom prst="rect">
            <a:avLst/>
          </a:prstGeom>
        </p:spPr>
      </p:pic>
    </p:spTree>
    <p:extLst>
      <p:ext uri="{BB962C8B-B14F-4D97-AF65-F5344CB8AC3E}">
        <p14:creationId xmlns:p14="http://schemas.microsoft.com/office/powerpoint/2010/main" val="521459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54A563-EDE9-505F-0313-8A120CD05304}"/>
              </a:ext>
            </a:extLst>
          </p:cNvPr>
          <p:cNvSpPr>
            <a:spLocks noGrp="1"/>
          </p:cNvSpPr>
          <p:nvPr>
            <p:ph type="title"/>
          </p:nvPr>
        </p:nvSpPr>
        <p:spPr/>
        <p:txBody>
          <a:bodyPr/>
          <a:lstStyle/>
          <a:p>
            <a:r>
              <a:rPr lang="it-IT" b="1" dirty="0"/>
              <a:t>FASE 3: Data </a:t>
            </a:r>
            <a:r>
              <a:rPr lang="it-IT" b="1" dirty="0" err="1"/>
              <a:t>Preparation</a:t>
            </a:r>
            <a:endParaRPr lang="it-IT" dirty="0"/>
          </a:p>
        </p:txBody>
      </p:sp>
      <p:sp>
        <p:nvSpPr>
          <p:cNvPr id="3" name="Segnaposto contenuto 2">
            <a:extLst>
              <a:ext uri="{FF2B5EF4-FFF2-40B4-BE49-F238E27FC236}">
                <a16:creationId xmlns:a16="http://schemas.microsoft.com/office/drawing/2014/main" id="{27455602-6629-3BF1-5DFB-3B2F58E97ADE}"/>
              </a:ext>
            </a:extLst>
          </p:cNvPr>
          <p:cNvSpPr>
            <a:spLocks noGrp="1"/>
          </p:cNvSpPr>
          <p:nvPr>
            <p:ph idx="1"/>
          </p:nvPr>
        </p:nvSpPr>
        <p:spPr/>
        <p:txBody>
          <a:bodyPr/>
          <a:lstStyle/>
          <a:p>
            <a:r>
              <a:rPr lang="it-IT" dirty="0"/>
              <a:t>Le considerazione fatte nell’EDA mi fanno pensare che la domanda e quindi di conseguenza le scorte dipendano dal giorno della settimana e dal mese. </a:t>
            </a:r>
          </a:p>
          <a:p>
            <a:r>
              <a:rPr lang="it-IT" dirty="0"/>
              <a:t>In più, per catturare meglio le fluttuazioni, introduco anche </a:t>
            </a:r>
            <a:r>
              <a:rPr lang="it-IT" b="1" dirty="0"/>
              <a:t>i lag</a:t>
            </a:r>
            <a:r>
              <a:rPr lang="it-IT" dirty="0"/>
              <a:t> e la </a:t>
            </a:r>
            <a:r>
              <a:rPr lang="it-IT" b="1" dirty="0"/>
              <a:t>media mobile  settimanale</a:t>
            </a:r>
            <a:r>
              <a:rPr lang="it-IT" dirty="0"/>
              <a:t>, anche perché molto semplici da calcolare e introdurre.</a:t>
            </a:r>
          </a:p>
        </p:txBody>
      </p:sp>
      <p:graphicFrame>
        <p:nvGraphicFramePr>
          <p:cNvPr id="4" name="Tabella 3">
            <a:extLst>
              <a:ext uri="{FF2B5EF4-FFF2-40B4-BE49-F238E27FC236}">
                <a16:creationId xmlns:a16="http://schemas.microsoft.com/office/drawing/2014/main" id="{5E1C4B9A-E53A-4E03-CA52-0EC01C1796E4}"/>
              </a:ext>
            </a:extLst>
          </p:cNvPr>
          <p:cNvGraphicFramePr>
            <a:graphicFrameLocks noGrp="1"/>
          </p:cNvGraphicFramePr>
          <p:nvPr>
            <p:extLst>
              <p:ext uri="{D42A27DB-BD31-4B8C-83A1-F6EECF244321}">
                <p14:modId xmlns:p14="http://schemas.microsoft.com/office/powerpoint/2010/main" val="1045095631"/>
              </p:ext>
            </p:extLst>
          </p:nvPr>
        </p:nvGraphicFramePr>
        <p:xfrm>
          <a:off x="2111603" y="3669878"/>
          <a:ext cx="7022970" cy="2755900"/>
        </p:xfrm>
        <a:graphic>
          <a:graphicData uri="http://schemas.openxmlformats.org/drawingml/2006/table">
            <a:tbl>
              <a:tblPr firstRow="1">
                <a:tableStyleId>{9D7B26C5-4107-4FEC-AEDC-1716B250A1EF}</a:tableStyleId>
              </a:tblPr>
              <a:tblGrid>
                <a:gridCol w="3511485">
                  <a:extLst>
                    <a:ext uri="{9D8B030D-6E8A-4147-A177-3AD203B41FA5}">
                      <a16:colId xmlns:a16="http://schemas.microsoft.com/office/drawing/2014/main" val="547558006"/>
                    </a:ext>
                  </a:extLst>
                </a:gridCol>
                <a:gridCol w="3511485">
                  <a:extLst>
                    <a:ext uri="{9D8B030D-6E8A-4147-A177-3AD203B41FA5}">
                      <a16:colId xmlns:a16="http://schemas.microsoft.com/office/drawing/2014/main" val="2767881215"/>
                    </a:ext>
                  </a:extLst>
                </a:gridCol>
              </a:tblGrid>
              <a:tr h="0">
                <a:tc>
                  <a:txBody>
                    <a:bodyPr/>
                    <a:lstStyle/>
                    <a:p>
                      <a:pPr algn="ctr">
                        <a:lnSpc>
                          <a:spcPts val="1875"/>
                        </a:lnSpc>
                        <a:buNone/>
                      </a:pPr>
                      <a:r>
                        <a:rPr lang="it-IT" sz="1600" b="1">
                          <a:solidFill>
                            <a:srgbClr val="0F1115"/>
                          </a:solidFill>
                          <a:effectLst/>
                        </a:rPr>
                        <a:t>Feature</a:t>
                      </a:r>
                      <a:endParaRPr lang="it-IT" sz="1600" b="1" i="0">
                        <a:solidFill>
                          <a:srgbClr val="0F1115"/>
                        </a:solidFill>
                        <a:effectLst/>
                        <a:latin typeface="quote-cjk-patch"/>
                      </a:endParaRPr>
                    </a:p>
                  </a:txBody>
                  <a:tcPr marR="121920" marT="76200" marB="76200" anchor="ctr"/>
                </a:tc>
                <a:tc>
                  <a:txBody>
                    <a:bodyPr/>
                    <a:lstStyle/>
                    <a:p>
                      <a:pPr algn="ctr">
                        <a:lnSpc>
                          <a:spcPts val="1875"/>
                        </a:lnSpc>
                        <a:buNone/>
                      </a:pPr>
                      <a:r>
                        <a:rPr lang="it-IT" sz="1600" b="1" dirty="0">
                          <a:solidFill>
                            <a:srgbClr val="0F1115"/>
                          </a:solidFill>
                          <a:effectLst/>
                        </a:rPr>
                        <a:t>Descrizione</a:t>
                      </a:r>
                      <a:endParaRPr lang="it-IT" sz="1600" b="1" i="0" dirty="0">
                        <a:solidFill>
                          <a:srgbClr val="0F1115"/>
                        </a:solidFill>
                        <a:effectLst/>
                        <a:latin typeface="quote-cjk-patch"/>
                      </a:endParaRPr>
                    </a:p>
                  </a:txBody>
                  <a:tcPr marL="121920" marR="121920" marT="76200" marB="76200" anchor="ctr"/>
                </a:tc>
                <a:extLst>
                  <a:ext uri="{0D108BD9-81ED-4DB2-BD59-A6C34878D82A}">
                    <a16:rowId xmlns:a16="http://schemas.microsoft.com/office/drawing/2014/main" val="3912045489"/>
                  </a:ext>
                </a:extLst>
              </a:tr>
              <a:tr h="0">
                <a:tc>
                  <a:txBody>
                    <a:bodyPr/>
                    <a:lstStyle/>
                    <a:p>
                      <a:pPr algn="ctr">
                        <a:lnSpc>
                          <a:spcPts val="1650"/>
                        </a:lnSpc>
                        <a:buNone/>
                      </a:pPr>
                      <a:r>
                        <a:rPr lang="it-IT" sz="1600" b="0">
                          <a:solidFill>
                            <a:srgbClr val="0F1115"/>
                          </a:solidFill>
                          <a:effectLst/>
                        </a:rPr>
                        <a:t>giorno_settimana</a:t>
                      </a:r>
                      <a:endParaRPr lang="it-IT" sz="2400" b="0" i="0">
                        <a:solidFill>
                          <a:srgbClr val="0F1115"/>
                        </a:solidFill>
                        <a:effectLst/>
                        <a:latin typeface="quote-cjk-patch"/>
                      </a:endParaRPr>
                    </a:p>
                  </a:txBody>
                  <a:tcPr marR="121920" marT="76200" marB="76200" anchor="ctr"/>
                </a:tc>
                <a:tc>
                  <a:txBody>
                    <a:bodyPr/>
                    <a:lstStyle/>
                    <a:p>
                      <a:pPr algn="ctr">
                        <a:lnSpc>
                          <a:spcPts val="1875"/>
                        </a:lnSpc>
                        <a:buNone/>
                      </a:pPr>
                      <a:r>
                        <a:rPr lang="it-IT" sz="1600" b="0" dirty="0">
                          <a:solidFill>
                            <a:srgbClr val="0F1115"/>
                          </a:solidFill>
                          <a:effectLst/>
                        </a:rPr>
                        <a:t>0=Lunedì … 6=Domenica</a:t>
                      </a:r>
                      <a:endParaRPr lang="it-IT" sz="1600"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2443044920"/>
                  </a:ext>
                </a:extLst>
              </a:tr>
              <a:tr h="0">
                <a:tc>
                  <a:txBody>
                    <a:bodyPr/>
                    <a:lstStyle/>
                    <a:p>
                      <a:pPr algn="ctr">
                        <a:lnSpc>
                          <a:spcPts val="1650"/>
                        </a:lnSpc>
                        <a:buNone/>
                      </a:pPr>
                      <a:r>
                        <a:rPr lang="it-IT" sz="1600" b="0" dirty="0">
                          <a:solidFill>
                            <a:srgbClr val="0F1115"/>
                          </a:solidFill>
                          <a:effectLst/>
                        </a:rPr>
                        <a:t>mese</a:t>
                      </a:r>
                      <a:endParaRPr lang="it-IT" sz="2400" b="0" i="0" dirty="0">
                        <a:solidFill>
                          <a:srgbClr val="0F1115"/>
                        </a:solidFill>
                        <a:effectLst/>
                        <a:latin typeface="quote-cjk-patch"/>
                      </a:endParaRPr>
                    </a:p>
                  </a:txBody>
                  <a:tcPr marR="121920" marT="76200" marB="76200" anchor="ctr"/>
                </a:tc>
                <a:tc>
                  <a:txBody>
                    <a:bodyPr/>
                    <a:lstStyle/>
                    <a:p>
                      <a:pPr algn="ctr">
                        <a:lnSpc>
                          <a:spcPts val="1875"/>
                        </a:lnSpc>
                        <a:buNone/>
                      </a:pPr>
                      <a:r>
                        <a:rPr lang="it-IT" sz="1600" b="0">
                          <a:solidFill>
                            <a:srgbClr val="0F1115"/>
                          </a:solidFill>
                          <a:effectLst/>
                        </a:rPr>
                        <a:t>1–12</a:t>
                      </a:r>
                      <a:endParaRPr lang="it-IT" sz="1600" b="0" i="0">
                        <a:solidFill>
                          <a:srgbClr val="0F1115"/>
                        </a:solidFill>
                        <a:effectLst/>
                        <a:latin typeface="quote-cjk-patch"/>
                      </a:endParaRPr>
                    </a:p>
                  </a:txBody>
                  <a:tcPr marL="121920" marT="76200" marB="76200" anchor="ctr"/>
                </a:tc>
                <a:extLst>
                  <a:ext uri="{0D108BD9-81ED-4DB2-BD59-A6C34878D82A}">
                    <a16:rowId xmlns:a16="http://schemas.microsoft.com/office/drawing/2014/main" val="1215586347"/>
                  </a:ext>
                </a:extLst>
              </a:tr>
              <a:tr h="0">
                <a:tc>
                  <a:txBody>
                    <a:bodyPr/>
                    <a:lstStyle/>
                    <a:p>
                      <a:pPr algn="ctr">
                        <a:lnSpc>
                          <a:spcPts val="1650"/>
                        </a:lnSpc>
                        <a:buNone/>
                      </a:pPr>
                      <a:r>
                        <a:rPr lang="it-IT" sz="1600" b="0">
                          <a:solidFill>
                            <a:srgbClr val="0F1115"/>
                          </a:solidFill>
                          <a:effectLst/>
                        </a:rPr>
                        <a:t>promo</a:t>
                      </a:r>
                      <a:endParaRPr lang="it-IT" sz="2400" b="0" i="0">
                        <a:solidFill>
                          <a:srgbClr val="0F1115"/>
                        </a:solidFill>
                        <a:effectLst/>
                        <a:latin typeface="quote-cjk-patch"/>
                      </a:endParaRPr>
                    </a:p>
                  </a:txBody>
                  <a:tcPr marR="121920" marT="76200" marB="76200" anchor="ctr"/>
                </a:tc>
                <a:tc>
                  <a:txBody>
                    <a:bodyPr/>
                    <a:lstStyle/>
                    <a:p>
                      <a:pPr algn="ctr">
                        <a:lnSpc>
                          <a:spcPts val="1875"/>
                        </a:lnSpc>
                        <a:buNone/>
                      </a:pPr>
                      <a:r>
                        <a:rPr lang="it-IT" sz="1600" b="0" dirty="0">
                          <a:solidFill>
                            <a:srgbClr val="0F1115"/>
                          </a:solidFill>
                          <a:effectLst/>
                        </a:rPr>
                        <a:t>0/1</a:t>
                      </a:r>
                      <a:endParaRPr lang="it-IT" sz="1600"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379833195"/>
                  </a:ext>
                </a:extLst>
              </a:tr>
              <a:tr h="0">
                <a:tc>
                  <a:txBody>
                    <a:bodyPr/>
                    <a:lstStyle/>
                    <a:p>
                      <a:pPr algn="ctr">
                        <a:lnSpc>
                          <a:spcPts val="1650"/>
                        </a:lnSpc>
                        <a:buNone/>
                      </a:pPr>
                      <a:r>
                        <a:rPr lang="it-IT" sz="1600" b="0">
                          <a:solidFill>
                            <a:srgbClr val="0F1115"/>
                          </a:solidFill>
                          <a:effectLst/>
                        </a:rPr>
                        <a:t>lag_1</a:t>
                      </a:r>
                      <a:endParaRPr lang="it-IT" sz="2400" b="0" i="0">
                        <a:solidFill>
                          <a:srgbClr val="0F1115"/>
                        </a:solidFill>
                        <a:effectLst/>
                        <a:latin typeface="quote-cjk-patch"/>
                      </a:endParaRPr>
                    </a:p>
                  </a:txBody>
                  <a:tcPr marR="121920" marT="76200" marB="76200" anchor="ctr"/>
                </a:tc>
                <a:tc>
                  <a:txBody>
                    <a:bodyPr/>
                    <a:lstStyle/>
                    <a:p>
                      <a:pPr algn="ctr">
                        <a:lnSpc>
                          <a:spcPts val="1875"/>
                        </a:lnSpc>
                        <a:buNone/>
                      </a:pPr>
                      <a:r>
                        <a:rPr lang="it-IT" sz="1600" b="0" dirty="0">
                          <a:solidFill>
                            <a:srgbClr val="0F1115"/>
                          </a:solidFill>
                          <a:effectLst/>
                        </a:rPr>
                        <a:t>vendite del giorno prima</a:t>
                      </a:r>
                      <a:endParaRPr lang="it-IT" sz="1600"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3980770166"/>
                  </a:ext>
                </a:extLst>
              </a:tr>
              <a:tr h="0">
                <a:tc>
                  <a:txBody>
                    <a:bodyPr/>
                    <a:lstStyle/>
                    <a:p>
                      <a:pPr algn="ctr">
                        <a:lnSpc>
                          <a:spcPts val="1650"/>
                        </a:lnSpc>
                        <a:buNone/>
                      </a:pPr>
                      <a:r>
                        <a:rPr lang="it-IT" sz="1600" b="0" dirty="0">
                          <a:solidFill>
                            <a:srgbClr val="0F1115"/>
                          </a:solidFill>
                          <a:effectLst/>
                        </a:rPr>
                        <a:t>lag_7</a:t>
                      </a:r>
                      <a:endParaRPr lang="it-IT" sz="2400" b="0" i="0" dirty="0">
                        <a:solidFill>
                          <a:srgbClr val="0F1115"/>
                        </a:solidFill>
                        <a:effectLst/>
                        <a:latin typeface="quote-cjk-patch"/>
                      </a:endParaRPr>
                    </a:p>
                  </a:txBody>
                  <a:tcPr marR="121920" marT="76200" marB="76200" anchor="ctr"/>
                </a:tc>
                <a:tc>
                  <a:txBody>
                    <a:bodyPr/>
                    <a:lstStyle/>
                    <a:p>
                      <a:pPr algn="ctr">
                        <a:lnSpc>
                          <a:spcPts val="1875"/>
                        </a:lnSpc>
                        <a:buNone/>
                      </a:pPr>
                      <a:r>
                        <a:rPr lang="it-IT" sz="1600" b="0" dirty="0">
                          <a:solidFill>
                            <a:srgbClr val="0F1115"/>
                          </a:solidFill>
                          <a:effectLst/>
                        </a:rPr>
                        <a:t>vendite di 7 giorni fa</a:t>
                      </a:r>
                      <a:endParaRPr lang="it-IT" sz="1600"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2669942274"/>
                  </a:ext>
                </a:extLst>
              </a:tr>
              <a:tr h="0">
                <a:tc>
                  <a:txBody>
                    <a:bodyPr/>
                    <a:lstStyle/>
                    <a:p>
                      <a:pPr algn="ctr">
                        <a:lnSpc>
                          <a:spcPts val="1650"/>
                        </a:lnSpc>
                        <a:buNone/>
                      </a:pPr>
                      <a:r>
                        <a:rPr lang="it-IT" sz="1600" b="0" dirty="0">
                          <a:solidFill>
                            <a:srgbClr val="0F1115"/>
                          </a:solidFill>
                          <a:effectLst/>
                        </a:rPr>
                        <a:t>media_mobile_7</a:t>
                      </a:r>
                      <a:endParaRPr lang="it-IT" sz="2400" b="0" i="0" dirty="0">
                        <a:solidFill>
                          <a:srgbClr val="0F1115"/>
                        </a:solidFill>
                        <a:effectLst/>
                        <a:latin typeface="quote-cjk-patch"/>
                      </a:endParaRPr>
                    </a:p>
                  </a:txBody>
                  <a:tcPr marR="121920" marT="76200" marB="76200" anchor="ctr"/>
                </a:tc>
                <a:tc>
                  <a:txBody>
                    <a:bodyPr/>
                    <a:lstStyle/>
                    <a:p>
                      <a:pPr algn="ctr">
                        <a:lnSpc>
                          <a:spcPts val="1875"/>
                        </a:lnSpc>
                        <a:buNone/>
                      </a:pPr>
                      <a:r>
                        <a:rPr lang="it-IT" sz="1600" b="0" dirty="0">
                          <a:solidFill>
                            <a:srgbClr val="0F1115"/>
                          </a:solidFill>
                          <a:effectLst/>
                        </a:rPr>
                        <a:t>media mobile degli ultimi 7 giorni</a:t>
                      </a:r>
                      <a:endParaRPr lang="it-IT" sz="1600"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1445541232"/>
                  </a:ext>
                </a:extLst>
              </a:tr>
            </a:tbl>
          </a:graphicData>
        </a:graphic>
      </p:graphicFrame>
    </p:spTree>
    <p:extLst>
      <p:ext uri="{BB962C8B-B14F-4D97-AF65-F5344CB8AC3E}">
        <p14:creationId xmlns:p14="http://schemas.microsoft.com/office/powerpoint/2010/main" val="895716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F17290D-6EE0-E708-3EF0-31C1461AB344}"/>
              </a:ext>
            </a:extLst>
          </p:cNvPr>
          <p:cNvSpPr>
            <a:spLocks noGrp="1"/>
          </p:cNvSpPr>
          <p:nvPr>
            <p:ph type="title"/>
          </p:nvPr>
        </p:nvSpPr>
        <p:spPr/>
        <p:txBody>
          <a:bodyPr/>
          <a:lstStyle/>
          <a:p>
            <a:r>
              <a:rPr lang="it-IT" b="1" dirty="0"/>
              <a:t>FASE 4: </a:t>
            </a:r>
            <a:r>
              <a:rPr lang="it-IT" b="1" dirty="0" err="1"/>
              <a:t>Modeling</a:t>
            </a:r>
            <a:endParaRPr lang="it-IT" dirty="0"/>
          </a:p>
        </p:txBody>
      </p:sp>
      <p:sp>
        <p:nvSpPr>
          <p:cNvPr id="3" name="Segnaposto contenuto 2">
            <a:extLst>
              <a:ext uri="{FF2B5EF4-FFF2-40B4-BE49-F238E27FC236}">
                <a16:creationId xmlns:a16="http://schemas.microsoft.com/office/drawing/2014/main" id="{6F0652A1-5E35-0151-6902-5953F6F0B9FB}"/>
              </a:ext>
            </a:extLst>
          </p:cNvPr>
          <p:cNvSpPr>
            <a:spLocks noGrp="1"/>
          </p:cNvSpPr>
          <p:nvPr>
            <p:ph idx="1"/>
          </p:nvPr>
        </p:nvSpPr>
        <p:spPr/>
        <p:txBody>
          <a:bodyPr/>
          <a:lstStyle/>
          <a:p>
            <a:r>
              <a:rPr lang="it-IT" b="1" dirty="0"/>
              <a:t>Perché Random Forest</a:t>
            </a:r>
            <a:endParaRPr lang="it-IT" dirty="0"/>
          </a:p>
          <a:p>
            <a:pPr lvl="0"/>
            <a:r>
              <a:rPr lang="it-IT" dirty="0"/>
              <a:t>Robusto, non richiede scaling</a:t>
            </a:r>
          </a:p>
          <a:p>
            <a:pPr lvl="0"/>
            <a:r>
              <a:rPr lang="it-IT" dirty="0"/>
              <a:t>Gestisce relazioni non lineari</a:t>
            </a:r>
          </a:p>
          <a:p>
            <a:pPr lvl="0"/>
            <a:r>
              <a:rPr lang="it-IT" dirty="0"/>
              <a:t>Spiegabile (</a:t>
            </a:r>
            <a:r>
              <a:rPr lang="it-IT" b="1" dirty="0"/>
              <a:t>feature </a:t>
            </a:r>
            <a:r>
              <a:rPr lang="it-IT" b="1" dirty="0" err="1"/>
              <a:t>importance</a:t>
            </a:r>
            <a:r>
              <a:rPr lang="it-IT" dirty="0"/>
              <a:t>)</a:t>
            </a:r>
          </a:p>
          <a:p>
            <a:endParaRPr lang="it-IT" dirty="0"/>
          </a:p>
        </p:txBody>
      </p:sp>
      <p:pic>
        <p:nvPicPr>
          <p:cNvPr id="4" name="Immagine 3">
            <a:extLst>
              <a:ext uri="{FF2B5EF4-FFF2-40B4-BE49-F238E27FC236}">
                <a16:creationId xmlns:a16="http://schemas.microsoft.com/office/drawing/2014/main" id="{C0D2604A-E971-EE36-CC1F-F4761A149D07}"/>
              </a:ext>
            </a:extLst>
          </p:cNvPr>
          <p:cNvPicPr>
            <a:picLocks noChangeAspect="1"/>
          </p:cNvPicPr>
          <p:nvPr/>
        </p:nvPicPr>
        <p:blipFill>
          <a:blip r:embed="rId2"/>
          <a:stretch>
            <a:fillRect/>
          </a:stretch>
        </p:blipFill>
        <p:spPr>
          <a:xfrm>
            <a:off x="5879430" y="2298667"/>
            <a:ext cx="5550569" cy="2445719"/>
          </a:xfrm>
          <a:prstGeom prst="rect">
            <a:avLst/>
          </a:prstGeom>
        </p:spPr>
      </p:pic>
    </p:spTree>
    <p:extLst>
      <p:ext uri="{BB962C8B-B14F-4D97-AF65-F5344CB8AC3E}">
        <p14:creationId xmlns:p14="http://schemas.microsoft.com/office/powerpoint/2010/main" val="3380889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D277AC-52CD-D897-DE31-24FA166E46B1}"/>
              </a:ext>
            </a:extLst>
          </p:cNvPr>
          <p:cNvSpPr>
            <a:spLocks noGrp="1"/>
          </p:cNvSpPr>
          <p:nvPr>
            <p:ph type="title"/>
          </p:nvPr>
        </p:nvSpPr>
        <p:spPr/>
        <p:txBody>
          <a:bodyPr/>
          <a:lstStyle/>
          <a:p>
            <a:r>
              <a:rPr lang="it-IT" b="1" dirty="0"/>
              <a:t>FASE 5: Evaluation</a:t>
            </a:r>
            <a:endParaRPr lang="it-IT" dirty="0"/>
          </a:p>
        </p:txBody>
      </p:sp>
      <p:sp>
        <p:nvSpPr>
          <p:cNvPr id="3" name="Segnaposto contenuto 2">
            <a:extLst>
              <a:ext uri="{FF2B5EF4-FFF2-40B4-BE49-F238E27FC236}">
                <a16:creationId xmlns:a16="http://schemas.microsoft.com/office/drawing/2014/main" id="{FA3CA766-EE6D-A4D3-1C7E-9C05729900BB}"/>
              </a:ext>
            </a:extLst>
          </p:cNvPr>
          <p:cNvSpPr>
            <a:spLocks noGrp="1"/>
          </p:cNvSpPr>
          <p:nvPr>
            <p:ph idx="1"/>
          </p:nvPr>
        </p:nvSpPr>
        <p:spPr/>
        <p:txBody>
          <a:bodyPr/>
          <a:lstStyle/>
          <a:p>
            <a:r>
              <a:rPr lang="it-IT" dirty="0"/>
              <a:t>Cerco di rispondere alle seguenti domande:</a:t>
            </a:r>
          </a:p>
          <a:p>
            <a:pPr marL="457200" indent="-457200">
              <a:buFont typeface="+mj-lt"/>
              <a:buAutoNum type="arabicPeriod"/>
            </a:pPr>
            <a:r>
              <a:rPr lang="it-IT" dirty="0"/>
              <a:t>Come varia il </a:t>
            </a:r>
            <a:r>
              <a:rPr lang="it-IT" b="1" dirty="0"/>
              <a:t>livello di servizio</a:t>
            </a:r>
            <a:r>
              <a:rPr lang="it-IT" dirty="0"/>
              <a:t>, inteso come giorni di </a:t>
            </a:r>
            <a:r>
              <a:rPr lang="it-IT" dirty="0" err="1"/>
              <a:t>stockout</a:t>
            </a:r>
            <a:r>
              <a:rPr lang="it-IT" dirty="0"/>
              <a:t>?</a:t>
            </a:r>
          </a:p>
          <a:p>
            <a:pPr marL="457200" indent="-457200">
              <a:buFont typeface="+mj-lt"/>
              <a:buAutoNum type="arabicPeriod"/>
            </a:pPr>
            <a:r>
              <a:rPr lang="it-IT" dirty="0"/>
              <a:t>Quale modello funziona con una </a:t>
            </a:r>
            <a:r>
              <a:rPr lang="it-IT" b="1" dirty="0"/>
              <a:t>scorta di sicurezza </a:t>
            </a:r>
            <a:r>
              <a:rPr lang="it-IT" dirty="0"/>
              <a:t>più bassa?</a:t>
            </a:r>
          </a:p>
          <a:p>
            <a:pPr marL="457200" indent="-457200">
              <a:buFont typeface="+mj-lt"/>
              <a:buAutoNum type="arabicPeriod"/>
            </a:pPr>
            <a:r>
              <a:rPr lang="it-IT" dirty="0"/>
              <a:t>Come varia il capitale immobilizzato, inteso come </a:t>
            </a:r>
            <a:r>
              <a:rPr lang="it-IT" b="1" dirty="0"/>
              <a:t>scorta media</a:t>
            </a:r>
            <a:r>
              <a:rPr lang="it-IT" dirty="0"/>
              <a:t>?</a:t>
            </a:r>
          </a:p>
          <a:p>
            <a:pPr marL="457200" indent="-457200">
              <a:buFont typeface="+mj-lt"/>
              <a:buAutoNum type="arabicPeriod"/>
            </a:pPr>
            <a:r>
              <a:rPr lang="it-IT" dirty="0"/>
              <a:t>In caso di valutazioni contrastanti, quale dei due modelli mi fornisce il migliore </a:t>
            </a:r>
            <a:r>
              <a:rPr lang="it-IT" b="1" dirty="0"/>
              <a:t>trade-off </a:t>
            </a:r>
            <a:r>
              <a:rPr lang="it-IT" dirty="0"/>
              <a:t>tra i parametri illustrati?</a:t>
            </a:r>
          </a:p>
        </p:txBody>
      </p:sp>
    </p:spTree>
    <p:extLst>
      <p:ext uri="{BB962C8B-B14F-4D97-AF65-F5344CB8AC3E}">
        <p14:creationId xmlns:p14="http://schemas.microsoft.com/office/powerpoint/2010/main" val="1699889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9E7620-0AF0-0ABB-3AA3-138C3A499556}"/>
              </a:ext>
            </a:extLst>
          </p:cNvPr>
          <p:cNvSpPr>
            <a:spLocks noGrp="1"/>
          </p:cNvSpPr>
          <p:nvPr>
            <p:ph type="title"/>
          </p:nvPr>
        </p:nvSpPr>
        <p:spPr/>
        <p:txBody>
          <a:bodyPr/>
          <a:lstStyle/>
          <a:p>
            <a:r>
              <a:rPr lang="it-IT" b="1" dirty="0"/>
              <a:t>FASE 6: Deployment (e prossimi passi)</a:t>
            </a:r>
            <a:endParaRPr lang="it-IT" dirty="0"/>
          </a:p>
        </p:txBody>
      </p:sp>
      <p:sp>
        <p:nvSpPr>
          <p:cNvPr id="3" name="Segnaposto contenuto 2">
            <a:extLst>
              <a:ext uri="{FF2B5EF4-FFF2-40B4-BE49-F238E27FC236}">
                <a16:creationId xmlns:a16="http://schemas.microsoft.com/office/drawing/2014/main" id="{4DF2196B-6953-48A8-3D54-8052A38AED2C}"/>
              </a:ext>
            </a:extLst>
          </p:cNvPr>
          <p:cNvSpPr>
            <a:spLocks noGrp="1"/>
          </p:cNvSpPr>
          <p:nvPr>
            <p:ph idx="1"/>
          </p:nvPr>
        </p:nvSpPr>
        <p:spPr/>
        <p:txBody>
          <a:bodyPr/>
          <a:lstStyle/>
          <a:p>
            <a:r>
              <a:rPr lang="it-IT" dirty="0"/>
              <a:t>Voglio passare dalle parole ai fatti e mettere in produzione il mio modello.</a:t>
            </a:r>
          </a:p>
          <a:p>
            <a:r>
              <a:rPr lang="it-IT" dirty="0"/>
              <a:t>Ogni giorno, alla logistica, devono avere un report di questo tipo:</a:t>
            </a:r>
          </a:p>
          <a:p>
            <a:endParaRPr lang="it-IT" dirty="0"/>
          </a:p>
        </p:txBody>
      </p:sp>
      <p:graphicFrame>
        <p:nvGraphicFramePr>
          <p:cNvPr id="4" name="Tabella 3">
            <a:extLst>
              <a:ext uri="{FF2B5EF4-FFF2-40B4-BE49-F238E27FC236}">
                <a16:creationId xmlns:a16="http://schemas.microsoft.com/office/drawing/2014/main" id="{0BD5C68A-6356-E785-61F3-0579D68BB097}"/>
              </a:ext>
            </a:extLst>
          </p:cNvPr>
          <p:cNvGraphicFramePr>
            <a:graphicFrameLocks noGrp="1"/>
          </p:cNvGraphicFramePr>
          <p:nvPr>
            <p:extLst>
              <p:ext uri="{D42A27DB-BD31-4B8C-83A1-F6EECF244321}">
                <p14:modId xmlns:p14="http://schemas.microsoft.com/office/powerpoint/2010/main" val="4041862127"/>
              </p:ext>
            </p:extLst>
          </p:nvPr>
        </p:nvGraphicFramePr>
        <p:xfrm>
          <a:off x="3535680" y="3401441"/>
          <a:ext cx="5120640" cy="2362200"/>
        </p:xfrm>
        <a:graphic>
          <a:graphicData uri="http://schemas.openxmlformats.org/drawingml/2006/table">
            <a:tbl>
              <a:tblPr firstRow="1">
                <a:tableStyleId>{69CF1AB2-1976-4502-BF36-3FF5EA218861}</a:tableStyleId>
              </a:tblPr>
              <a:tblGrid>
                <a:gridCol w="2560320">
                  <a:extLst>
                    <a:ext uri="{9D8B030D-6E8A-4147-A177-3AD203B41FA5}">
                      <a16:colId xmlns:a16="http://schemas.microsoft.com/office/drawing/2014/main" val="739946976"/>
                    </a:ext>
                  </a:extLst>
                </a:gridCol>
                <a:gridCol w="2560320">
                  <a:extLst>
                    <a:ext uri="{9D8B030D-6E8A-4147-A177-3AD203B41FA5}">
                      <a16:colId xmlns:a16="http://schemas.microsoft.com/office/drawing/2014/main" val="3866123713"/>
                    </a:ext>
                  </a:extLst>
                </a:gridCol>
              </a:tblGrid>
              <a:tr h="0">
                <a:tc>
                  <a:txBody>
                    <a:bodyPr/>
                    <a:lstStyle/>
                    <a:p>
                      <a:pPr algn="l">
                        <a:lnSpc>
                          <a:spcPts val="1875"/>
                        </a:lnSpc>
                        <a:buNone/>
                      </a:pPr>
                      <a:r>
                        <a:rPr lang="it-IT" sz="1600" b="0">
                          <a:solidFill>
                            <a:srgbClr val="0F1115"/>
                          </a:solidFill>
                          <a:effectLst/>
                        </a:rPr>
                        <a:t>Vendite giorno precedente</a:t>
                      </a:r>
                      <a:endParaRPr lang="it-IT" sz="1600" b="0" i="0">
                        <a:solidFill>
                          <a:srgbClr val="0F1115"/>
                        </a:solidFill>
                        <a:effectLst/>
                        <a:latin typeface="quote-cjk-patch"/>
                      </a:endParaRPr>
                    </a:p>
                  </a:txBody>
                  <a:tcPr marR="121920" marT="76200" marB="76200" anchor="ctr"/>
                </a:tc>
                <a:tc>
                  <a:txBody>
                    <a:bodyPr/>
                    <a:lstStyle/>
                    <a:p>
                      <a:pPr algn="l">
                        <a:lnSpc>
                          <a:spcPts val="1875"/>
                        </a:lnSpc>
                        <a:buNone/>
                      </a:pPr>
                      <a:r>
                        <a:rPr lang="it-IT" sz="1600" b="0" dirty="0">
                          <a:solidFill>
                            <a:srgbClr val="0F1115"/>
                          </a:solidFill>
                          <a:effectLst/>
                        </a:rPr>
                        <a:t>5.263</a:t>
                      </a:r>
                      <a:endParaRPr lang="it-IT" sz="1600"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853947122"/>
                  </a:ext>
                </a:extLst>
              </a:tr>
              <a:tr h="0">
                <a:tc>
                  <a:txBody>
                    <a:bodyPr/>
                    <a:lstStyle/>
                    <a:p>
                      <a:pPr algn="l">
                        <a:lnSpc>
                          <a:spcPts val="1875"/>
                        </a:lnSpc>
                        <a:buNone/>
                      </a:pPr>
                      <a:r>
                        <a:rPr lang="it-IT" sz="1600" b="0" dirty="0">
                          <a:solidFill>
                            <a:srgbClr val="0F1115"/>
                          </a:solidFill>
                          <a:effectLst/>
                        </a:rPr>
                        <a:t>Previsione domanda</a:t>
                      </a:r>
                      <a:endParaRPr lang="it-IT" sz="1600" b="0" i="0" dirty="0">
                        <a:solidFill>
                          <a:srgbClr val="0F1115"/>
                        </a:solidFill>
                        <a:effectLst/>
                        <a:latin typeface="quote-cjk-patch"/>
                      </a:endParaRPr>
                    </a:p>
                  </a:txBody>
                  <a:tcPr marR="121920" marT="76200" marB="76200" anchor="ctr"/>
                </a:tc>
                <a:tc>
                  <a:txBody>
                    <a:bodyPr/>
                    <a:lstStyle/>
                    <a:p>
                      <a:pPr algn="l">
                        <a:lnSpc>
                          <a:spcPts val="1875"/>
                        </a:lnSpc>
                        <a:buNone/>
                      </a:pPr>
                      <a:r>
                        <a:rPr lang="it-IT" sz="1600" b="0">
                          <a:solidFill>
                            <a:srgbClr val="0F1115"/>
                          </a:solidFill>
                          <a:effectLst/>
                        </a:rPr>
                        <a:t>5.069</a:t>
                      </a:r>
                      <a:endParaRPr lang="it-IT" sz="1600" b="0" i="0">
                        <a:solidFill>
                          <a:srgbClr val="0F1115"/>
                        </a:solidFill>
                        <a:effectLst/>
                        <a:latin typeface="quote-cjk-patch"/>
                      </a:endParaRPr>
                    </a:p>
                  </a:txBody>
                  <a:tcPr marL="121920" marT="76200" marB="76200" anchor="ctr"/>
                </a:tc>
                <a:extLst>
                  <a:ext uri="{0D108BD9-81ED-4DB2-BD59-A6C34878D82A}">
                    <a16:rowId xmlns:a16="http://schemas.microsoft.com/office/drawing/2014/main" val="3312846840"/>
                  </a:ext>
                </a:extLst>
              </a:tr>
              <a:tr h="0">
                <a:tc>
                  <a:txBody>
                    <a:bodyPr/>
                    <a:lstStyle/>
                    <a:p>
                      <a:pPr algn="l">
                        <a:lnSpc>
                          <a:spcPts val="1875"/>
                        </a:lnSpc>
                        <a:buNone/>
                      </a:pPr>
                      <a:r>
                        <a:rPr lang="it-IT" sz="1600" b="0">
                          <a:solidFill>
                            <a:srgbClr val="0F1115"/>
                          </a:solidFill>
                          <a:effectLst/>
                        </a:rPr>
                        <a:t>Scorta di sicurezza</a:t>
                      </a:r>
                      <a:endParaRPr lang="it-IT" sz="1600" b="0" i="0">
                        <a:solidFill>
                          <a:srgbClr val="0F1115"/>
                        </a:solidFill>
                        <a:effectLst/>
                        <a:latin typeface="quote-cjk-patch"/>
                      </a:endParaRPr>
                    </a:p>
                  </a:txBody>
                  <a:tcPr marR="121920" marT="76200" marB="76200" anchor="ctr"/>
                </a:tc>
                <a:tc>
                  <a:txBody>
                    <a:bodyPr/>
                    <a:lstStyle/>
                    <a:p>
                      <a:pPr algn="l">
                        <a:lnSpc>
                          <a:spcPts val="1875"/>
                        </a:lnSpc>
                        <a:buNone/>
                      </a:pPr>
                      <a:r>
                        <a:rPr lang="it-IT" sz="1600" b="0">
                          <a:solidFill>
                            <a:srgbClr val="0F1115"/>
                          </a:solidFill>
                          <a:effectLst/>
                        </a:rPr>
                        <a:t>1.060</a:t>
                      </a:r>
                      <a:endParaRPr lang="it-IT" sz="1600" b="0" i="0">
                        <a:solidFill>
                          <a:srgbClr val="0F1115"/>
                        </a:solidFill>
                        <a:effectLst/>
                        <a:latin typeface="quote-cjk-patch"/>
                      </a:endParaRPr>
                    </a:p>
                  </a:txBody>
                  <a:tcPr marL="121920" marT="76200" marB="76200" anchor="ctr"/>
                </a:tc>
                <a:extLst>
                  <a:ext uri="{0D108BD9-81ED-4DB2-BD59-A6C34878D82A}">
                    <a16:rowId xmlns:a16="http://schemas.microsoft.com/office/drawing/2014/main" val="1644798368"/>
                  </a:ext>
                </a:extLst>
              </a:tr>
              <a:tr h="0">
                <a:tc>
                  <a:txBody>
                    <a:bodyPr/>
                    <a:lstStyle/>
                    <a:p>
                      <a:pPr algn="l">
                        <a:lnSpc>
                          <a:spcPts val="1875"/>
                        </a:lnSpc>
                        <a:buNone/>
                      </a:pPr>
                      <a:r>
                        <a:rPr lang="it-IT" sz="1600" b="0">
                          <a:solidFill>
                            <a:srgbClr val="0F1115"/>
                          </a:solidFill>
                          <a:effectLst/>
                        </a:rPr>
                        <a:t>Punto di riordino</a:t>
                      </a:r>
                      <a:endParaRPr lang="it-IT" sz="1600" b="0" i="0">
                        <a:solidFill>
                          <a:srgbClr val="0F1115"/>
                        </a:solidFill>
                        <a:effectLst/>
                        <a:latin typeface="quote-cjk-patch"/>
                      </a:endParaRPr>
                    </a:p>
                  </a:txBody>
                  <a:tcPr marR="121920" marT="76200" marB="76200" anchor="ctr"/>
                </a:tc>
                <a:tc>
                  <a:txBody>
                    <a:bodyPr/>
                    <a:lstStyle/>
                    <a:p>
                      <a:pPr algn="l">
                        <a:lnSpc>
                          <a:spcPts val="1875"/>
                        </a:lnSpc>
                        <a:buNone/>
                      </a:pPr>
                      <a:r>
                        <a:rPr lang="it-IT" sz="1600" b="1">
                          <a:solidFill>
                            <a:srgbClr val="0F1115"/>
                          </a:solidFill>
                          <a:effectLst/>
                        </a:rPr>
                        <a:t>16.267</a:t>
                      </a:r>
                      <a:endParaRPr lang="it-IT" sz="1600" b="0" i="0">
                        <a:solidFill>
                          <a:srgbClr val="0F1115"/>
                        </a:solidFill>
                        <a:effectLst/>
                        <a:latin typeface="quote-cjk-patch"/>
                      </a:endParaRPr>
                    </a:p>
                  </a:txBody>
                  <a:tcPr marL="121920" marT="76200" marB="76200" anchor="ctr"/>
                </a:tc>
                <a:extLst>
                  <a:ext uri="{0D108BD9-81ED-4DB2-BD59-A6C34878D82A}">
                    <a16:rowId xmlns:a16="http://schemas.microsoft.com/office/drawing/2014/main" val="706791832"/>
                  </a:ext>
                </a:extLst>
              </a:tr>
              <a:tr h="0">
                <a:tc>
                  <a:txBody>
                    <a:bodyPr/>
                    <a:lstStyle/>
                    <a:p>
                      <a:pPr algn="l">
                        <a:lnSpc>
                          <a:spcPts val="1875"/>
                        </a:lnSpc>
                        <a:buNone/>
                      </a:pPr>
                      <a:r>
                        <a:rPr lang="it-IT" sz="1600" b="0">
                          <a:solidFill>
                            <a:srgbClr val="0F1115"/>
                          </a:solidFill>
                          <a:effectLst/>
                        </a:rPr>
                        <a:t>Scorta attuale</a:t>
                      </a:r>
                      <a:endParaRPr lang="it-IT" sz="1600" b="0" i="0">
                        <a:solidFill>
                          <a:srgbClr val="0F1115"/>
                        </a:solidFill>
                        <a:effectLst/>
                        <a:latin typeface="quote-cjk-patch"/>
                      </a:endParaRPr>
                    </a:p>
                  </a:txBody>
                  <a:tcPr marR="121920" marT="76200" marB="76200" anchor="ctr"/>
                </a:tc>
                <a:tc>
                  <a:txBody>
                    <a:bodyPr/>
                    <a:lstStyle/>
                    <a:p>
                      <a:pPr algn="l">
                        <a:lnSpc>
                          <a:spcPts val="1875"/>
                        </a:lnSpc>
                        <a:buNone/>
                      </a:pPr>
                      <a:r>
                        <a:rPr lang="it-IT" sz="1600" b="0">
                          <a:solidFill>
                            <a:srgbClr val="0F1115"/>
                          </a:solidFill>
                          <a:effectLst/>
                        </a:rPr>
                        <a:t>8.000</a:t>
                      </a:r>
                      <a:endParaRPr lang="it-IT" sz="1600" b="0" i="0">
                        <a:solidFill>
                          <a:srgbClr val="0F1115"/>
                        </a:solidFill>
                        <a:effectLst/>
                        <a:latin typeface="quote-cjk-patch"/>
                      </a:endParaRPr>
                    </a:p>
                  </a:txBody>
                  <a:tcPr marL="121920" marT="76200" marB="76200" anchor="ctr"/>
                </a:tc>
                <a:extLst>
                  <a:ext uri="{0D108BD9-81ED-4DB2-BD59-A6C34878D82A}">
                    <a16:rowId xmlns:a16="http://schemas.microsoft.com/office/drawing/2014/main" val="656433479"/>
                  </a:ext>
                </a:extLst>
              </a:tr>
              <a:tr h="0">
                <a:tc>
                  <a:txBody>
                    <a:bodyPr/>
                    <a:lstStyle/>
                    <a:p>
                      <a:pPr algn="l">
                        <a:lnSpc>
                          <a:spcPts val="1875"/>
                        </a:lnSpc>
                        <a:buNone/>
                      </a:pPr>
                      <a:r>
                        <a:rPr lang="it-IT" sz="1600" b="1">
                          <a:solidFill>
                            <a:srgbClr val="0F1115"/>
                          </a:solidFill>
                          <a:effectLst/>
                        </a:rPr>
                        <a:t>Azione</a:t>
                      </a:r>
                      <a:endParaRPr lang="it-IT" sz="1600" b="0" i="0">
                        <a:solidFill>
                          <a:srgbClr val="0F1115"/>
                        </a:solidFill>
                        <a:effectLst/>
                        <a:latin typeface="quote-cjk-patch"/>
                      </a:endParaRPr>
                    </a:p>
                  </a:txBody>
                  <a:tcPr marR="121920" marT="76200" marB="76200" anchor="ctr"/>
                </a:tc>
                <a:tc>
                  <a:txBody>
                    <a:bodyPr/>
                    <a:lstStyle/>
                    <a:p>
                      <a:pPr algn="l">
                        <a:lnSpc>
                          <a:spcPts val="1875"/>
                        </a:lnSpc>
                        <a:buNone/>
                      </a:pPr>
                      <a:r>
                        <a:rPr lang="it-IT" sz="1600" b="1" dirty="0">
                          <a:solidFill>
                            <a:srgbClr val="0F1115"/>
                          </a:solidFill>
                          <a:effectLst/>
                        </a:rPr>
                        <a:t>ORDINARE 8.267 unità</a:t>
                      </a:r>
                      <a:endParaRPr lang="it-IT" sz="1600" b="0" i="0" dirty="0">
                        <a:solidFill>
                          <a:srgbClr val="0F1115"/>
                        </a:solidFill>
                        <a:effectLst/>
                        <a:latin typeface="quote-cjk-patch"/>
                      </a:endParaRPr>
                    </a:p>
                  </a:txBody>
                  <a:tcPr marL="121920" marT="76200" marB="76200" anchor="ctr"/>
                </a:tc>
                <a:extLst>
                  <a:ext uri="{0D108BD9-81ED-4DB2-BD59-A6C34878D82A}">
                    <a16:rowId xmlns:a16="http://schemas.microsoft.com/office/drawing/2014/main" val="1166285520"/>
                  </a:ext>
                </a:extLst>
              </a:tr>
            </a:tbl>
          </a:graphicData>
        </a:graphic>
      </p:graphicFrame>
    </p:spTree>
    <p:extLst>
      <p:ext uri="{BB962C8B-B14F-4D97-AF65-F5344CB8AC3E}">
        <p14:creationId xmlns:p14="http://schemas.microsoft.com/office/powerpoint/2010/main" val="579868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1878B-3BD8-E483-6BF2-ACE88A587FE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6D781B9-00B9-06A2-7A57-D2BC80B2D96E}"/>
              </a:ext>
            </a:extLst>
          </p:cNvPr>
          <p:cNvSpPr>
            <a:spLocks noGrp="1"/>
          </p:cNvSpPr>
          <p:nvPr>
            <p:ph type="title"/>
          </p:nvPr>
        </p:nvSpPr>
        <p:spPr/>
        <p:txBody>
          <a:bodyPr/>
          <a:lstStyle/>
          <a:p>
            <a:r>
              <a:rPr lang="it-IT" dirty="0"/>
              <a:t>Esempio 3</a:t>
            </a:r>
          </a:p>
        </p:txBody>
      </p:sp>
      <p:sp>
        <p:nvSpPr>
          <p:cNvPr id="4" name="Segnaposto testo 3">
            <a:extLst>
              <a:ext uri="{FF2B5EF4-FFF2-40B4-BE49-F238E27FC236}">
                <a16:creationId xmlns:a16="http://schemas.microsoft.com/office/drawing/2014/main" id="{70ED2ECC-5ECB-F4E6-6852-5A80075F1806}"/>
              </a:ext>
            </a:extLst>
          </p:cNvPr>
          <p:cNvSpPr>
            <a:spLocks noGrp="1"/>
          </p:cNvSpPr>
          <p:nvPr>
            <p:ph type="body" sz="half" idx="2"/>
          </p:nvPr>
        </p:nvSpPr>
        <p:spPr/>
        <p:txBody>
          <a:bodyPr/>
          <a:lstStyle/>
          <a:p>
            <a:r>
              <a:rPr lang="it-IT" dirty="0"/>
              <a:t>Esempio di gestione del magazzino</a:t>
            </a:r>
          </a:p>
        </p:txBody>
      </p:sp>
      <p:pic>
        <p:nvPicPr>
          <p:cNvPr id="9" name="Immagine 8">
            <a:extLst>
              <a:ext uri="{FF2B5EF4-FFF2-40B4-BE49-F238E27FC236}">
                <a16:creationId xmlns:a16="http://schemas.microsoft.com/office/drawing/2014/main" id="{92EBD61A-B63E-850D-96B5-3523A064EA94}"/>
              </a:ext>
            </a:extLst>
          </p:cNvPr>
          <p:cNvPicPr>
            <a:picLocks noChangeAspect="1"/>
          </p:cNvPicPr>
          <p:nvPr/>
        </p:nvPicPr>
        <p:blipFill>
          <a:blip r:embed="rId2"/>
          <a:stretch>
            <a:fillRect/>
          </a:stretch>
        </p:blipFill>
        <p:spPr>
          <a:xfrm>
            <a:off x="1287363" y="1638145"/>
            <a:ext cx="9617273" cy="3581710"/>
          </a:xfrm>
          <a:prstGeom prst="rect">
            <a:avLst/>
          </a:prstGeom>
        </p:spPr>
      </p:pic>
    </p:spTree>
    <p:extLst>
      <p:ext uri="{BB962C8B-B14F-4D97-AF65-F5344CB8AC3E}">
        <p14:creationId xmlns:p14="http://schemas.microsoft.com/office/powerpoint/2010/main" val="711785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8E1B38-69E9-1DFC-21F0-5940451CB654}"/>
              </a:ext>
            </a:extLst>
          </p:cNvPr>
          <p:cNvSpPr>
            <a:spLocks noGrp="1"/>
          </p:cNvSpPr>
          <p:nvPr>
            <p:ph type="title"/>
          </p:nvPr>
        </p:nvSpPr>
        <p:spPr/>
        <p:txBody>
          <a:bodyPr/>
          <a:lstStyle/>
          <a:p>
            <a:r>
              <a:rPr lang="it-IT" b="1" dirty="0"/>
              <a:t>… e i chatbot?!?</a:t>
            </a:r>
          </a:p>
        </p:txBody>
      </p:sp>
      <p:sp>
        <p:nvSpPr>
          <p:cNvPr id="3" name="Segnaposto contenuto 2">
            <a:extLst>
              <a:ext uri="{FF2B5EF4-FFF2-40B4-BE49-F238E27FC236}">
                <a16:creationId xmlns:a16="http://schemas.microsoft.com/office/drawing/2014/main" id="{D687D03E-5E0F-EC3C-54F9-5223FCD1B063}"/>
              </a:ext>
            </a:extLst>
          </p:cNvPr>
          <p:cNvSpPr>
            <a:spLocks noGrp="1"/>
          </p:cNvSpPr>
          <p:nvPr>
            <p:ph idx="1"/>
          </p:nvPr>
        </p:nvSpPr>
        <p:spPr/>
        <p:txBody>
          <a:bodyPr>
            <a:normAutofit fontScale="92500" lnSpcReduction="10000"/>
          </a:bodyPr>
          <a:lstStyle/>
          <a:p>
            <a:r>
              <a:rPr lang="it-IT" dirty="0"/>
              <a:t>Perché non chiedere a Claude o ChatGPT di essere lui ad ottimizzare la gestione scorte del magazzino???? Ecco perché:</a:t>
            </a:r>
          </a:p>
          <a:p>
            <a:pPr marL="457200" lvl="0" indent="-457200">
              <a:buFont typeface="+mj-lt"/>
              <a:buAutoNum type="arabicPeriod"/>
            </a:pPr>
            <a:r>
              <a:rPr lang="it-IT" b="1" dirty="0"/>
              <a:t>Un LLM predice il prossimo token di testo, non un valore numerico continuo calibrato. Se gli chiedi "quante unità venderemo domani?", può produrre un numero plausibile nel linguaggio, ma non ha un meccanismo statistico.</a:t>
            </a:r>
          </a:p>
          <a:p>
            <a:pPr marL="457200" lvl="0" indent="-457200">
              <a:buFont typeface="+mj-lt"/>
              <a:buAutoNum type="arabicPeriod"/>
            </a:pPr>
            <a:r>
              <a:rPr lang="it-IT" b="1" dirty="0"/>
              <a:t>Mancano garanzie di calibrazione</a:t>
            </a:r>
            <a:r>
              <a:rPr lang="it-IT" dirty="0"/>
              <a:t>: un LLM inventa un valore ragionevole, non fa conti.</a:t>
            </a:r>
          </a:p>
          <a:p>
            <a:pPr marL="457200" lvl="0" indent="-457200">
              <a:buFont typeface="+mj-lt"/>
              <a:buAutoNum type="arabicPeriod"/>
            </a:pPr>
            <a:r>
              <a:rPr lang="it-IT" b="1" dirty="0"/>
              <a:t>Costo</a:t>
            </a:r>
            <a:r>
              <a:rPr lang="it-IT" dirty="0"/>
              <a:t>: per un problema che va rieseguito ogni giorno su migliaia di SKU, un modello come </a:t>
            </a:r>
            <a:r>
              <a:rPr lang="it-IT" dirty="0" err="1"/>
              <a:t>RandomForest</a:t>
            </a:r>
            <a:r>
              <a:rPr lang="it-IT" dirty="0"/>
              <a:t> costa frazioni di millisecondo per previsione.</a:t>
            </a:r>
          </a:p>
          <a:p>
            <a:pPr marL="457200" lvl="0" indent="-457200">
              <a:buFont typeface="+mj-lt"/>
              <a:buAutoNum type="arabicPeriod"/>
            </a:pPr>
            <a:r>
              <a:rPr lang="it-IT" b="1" dirty="0"/>
              <a:t>Riproducibilità</a:t>
            </a:r>
            <a:r>
              <a:rPr lang="it-IT" dirty="0"/>
              <a:t>: in un contesto regolamentato (</a:t>
            </a:r>
            <a:r>
              <a:rPr lang="it-IT" dirty="0" err="1"/>
              <a:t>finance</a:t>
            </a:r>
            <a:r>
              <a:rPr lang="it-IT" dirty="0"/>
              <a:t>, supply chain), serve poter spiegare e riprodurre esattamente perché è uscito quel numero. Gli LLM sono notoriamente «Black Box» e neanche chi li programma può spiegare «come» arrivino a certe </a:t>
            </a:r>
            <a:r>
              <a:rPr lang="it-IT" dirty="0" err="1"/>
              <a:t>rispote</a:t>
            </a:r>
            <a:r>
              <a:rPr lang="it-IT" dirty="0"/>
              <a:t>.</a:t>
            </a:r>
          </a:p>
          <a:p>
            <a:endParaRPr lang="it-IT" dirty="0"/>
          </a:p>
        </p:txBody>
      </p:sp>
      <p:pic>
        <p:nvPicPr>
          <p:cNvPr id="4" name="Immagine 3">
            <a:extLst>
              <a:ext uri="{FF2B5EF4-FFF2-40B4-BE49-F238E27FC236}">
                <a16:creationId xmlns:a16="http://schemas.microsoft.com/office/drawing/2014/main" id="{33B88D76-874D-D5E3-6B3B-435029115763}"/>
              </a:ext>
            </a:extLst>
          </p:cNvPr>
          <p:cNvPicPr>
            <a:picLocks noChangeAspect="1"/>
          </p:cNvPicPr>
          <p:nvPr/>
        </p:nvPicPr>
        <p:blipFill>
          <a:blip r:embed="rId2"/>
          <a:stretch>
            <a:fillRect/>
          </a:stretch>
        </p:blipFill>
        <p:spPr>
          <a:xfrm>
            <a:off x="10097087" y="413583"/>
            <a:ext cx="1333103" cy="1333103"/>
          </a:xfrm>
          <a:prstGeom prst="rect">
            <a:avLst/>
          </a:prstGeom>
        </p:spPr>
      </p:pic>
    </p:spTree>
    <p:extLst>
      <p:ext uri="{BB962C8B-B14F-4D97-AF65-F5344CB8AC3E}">
        <p14:creationId xmlns:p14="http://schemas.microsoft.com/office/powerpoint/2010/main" val="22787998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D0855D0D-498D-FB69-F670-D5B8A019A54F}"/>
              </a:ext>
            </a:extLst>
          </p:cNvPr>
          <p:cNvSpPr>
            <a:spLocks noGrp="1"/>
          </p:cNvSpPr>
          <p:nvPr>
            <p:ph type="subTitle" idx="1"/>
          </p:nvPr>
        </p:nvSpPr>
        <p:spPr/>
        <p:txBody>
          <a:bodyPr/>
          <a:lstStyle/>
          <a:p>
            <a:r>
              <a:rPr lang="it-IT" dirty="0"/>
              <a:t>Grazie a tutti per l’attenzione!</a:t>
            </a:r>
          </a:p>
        </p:txBody>
      </p:sp>
    </p:spTree>
    <p:extLst>
      <p:ext uri="{BB962C8B-B14F-4D97-AF65-F5344CB8AC3E}">
        <p14:creationId xmlns:p14="http://schemas.microsoft.com/office/powerpoint/2010/main" val="2780990369"/>
      </p:ext>
    </p:extLst>
  </p:cSld>
  <p:clrMapOvr>
    <a:masterClrMapping/>
  </p:clrMapOvr>
</p:sld>
</file>

<file path=ppt/theme/theme1.xml><?xml version="1.0" encoding="utf-8"?>
<a:theme xmlns:a="http://schemas.openxmlformats.org/drawingml/2006/main" name="Metropolitano">
  <a:themeElements>
    <a:clrScheme name="Metropolitano">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o">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TM03457491[[fn=Metropolitano]]</Template>
  <TotalTime>161</TotalTime>
  <Words>2336</Words>
  <Application>Microsoft Office PowerPoint</Application>
  <PresentationFormat>Widescreen</PresentationFormat>
  <Paragraphs>331</Paragraphs>
  <Slides>31</Slides>
  <Notes>2</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31</vt:i4>
      </vt:variant>
    </vt:vector>
  </HeadingPairs>
  <TitlesOfParts>
    <vt:vector size="36" baseType="lpstr">
      <vt:lpstr>Arial</vt:lpstr>
      <vt:lpstr>Calibri</vt:lpstr>
      <vt:lpstr>Calibri Light</vt:lpstr>
      <vt:lpstr>quote-cjk-patch</vt:lpstr>
      <vt:lpstr>Metropolitano</vt:lpstr>
      <vt:lpstr>Innovazione con l’IA</vt:lpstr>
      <vt:lpstr>Cos’è l’Intelligenza Artificiale</vt:lpstr>
      <vt:lpstr>Ruolo dell’IA nel processo decisionale</vt:lpstr>
      <vt:lpstr>Presentazione standard di PowerPoint</vt:lpstr>
      <vt:lpstr>Un po’ di storia…</vt:lpstr>
      <vt:lpstr>La storia recente</vt:lpstr>
      <vt:lpstr>L’Importanza del Machine Learning</vt:lpstr>
      <vt:lpstr>Come funziona il cervello umano?</vt:lpstr>
      <vt:lpstr>Regressione</vt:lpstr>
      <vt:lpstr>Regressione lineare</vt:lpstr>
      <vt:lpstr>Esempio 1</vt:lpstr>
      <vt:lpstr>La regressione lineare è IA (più o meno)</vt:lpstr>
      <vt:lpstr>Diversi tipi di apprendimenti</vt:lpstr>
      <vt:lpstr>Presentazione standard di PowerPoint</vt:lpstr>
      <vt:lpstr>Diversi tipi di apprendimenti</vt:lpstr>
      <vt:lpstr>Esempio 2</vt:lpstr>
      <vt:lpstr>Decisioni guidate dai dati</vt:lpstr>
      <vt:lpstr>Come l'IA impara dai dati</vt:lpstr>
      <vt:lpstr>Dal dato al miglioramento continuo</vt:lpstr>
      <vt:lpstr>CRISP-DM</vt:lpstr>
      <vt:lpstr>Ottimizzazione delle scorte di magazzino</vt:lpstr>
      <vt:lpstr>Dataset utilizzato: Rossmann Store</vt:lpstr>
      <vt:lpstr>FASE 1: Business Understanding</vt:lpstr>
      <vt:lpstr>FASE 2: Data Understanding</vt:lpstr>
      <vt:lpstr>FASE 3: Data Preparation</vt:lpstr>
      <vt:lpstr>FASE 4: Modeling</vt:lpstr>
      <vt:lpstr>FASE 5: Evaluation</vt:lpstr>
      <vt:lpstr>FASE 6: Deployment (e prossimi passi)</vt:lpstr>
      <vt:lpstr>Esempio 3</vt:lpstr>
      <vt:lpstr>… e i chatbot?!?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Michele Cantoni</dc:creator>
  <cp:lastModifiedBy>Michele Cantoni</cp:lastModifiedBy>
  <cp:revision>11</cp:revision>
  <dcterms:created xsi:type="dcterms:W3CDTF">2026-08-02T18:51:54Z</dcterms:created>
  <dcterms:modified xsi:type="dcterms:W3CDTF">2026-08-05T10:22:57Z</dcterms:modified>
</cp:coreProperties>
</file>